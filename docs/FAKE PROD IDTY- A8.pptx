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27"/>
  </p:notesMasterIdLst>
  <p:sldIdLst>
    <p:sldId id="267" r:id="rId5"/>
    <p:sldId id="280" r:id="rId6"/>
    <p:sldId id="289" r:id="rId7"/>
    <p:sldId id="281" r:id="rId8"/>
    <p:sldId id="283" r:id="rId9"/>
    <p:sldId id="286" r:id="rId10"/>
    <p:sldId id="290" r:id="rId11"/>
    <p:sldId id="291" r:id="rId12"/>
    <p:sldId id="292" r:id="rId13"/>
    <p:sldId id="293" r:id="rId14"/>
    <p:sldId id="294" r:id="rId15"/>
    <p:sldId id="295" r:id="rId16"/>
    <p:sldId id="296" r:id="rId17"/>
    <p:sldId id="284" r:id="rId18"/>
    <p:sldId id="282" r:id="rId19"/>
    <p:sldId id="298" r:id="rId20"/>
    <p:sldId id="287" r:id="rId21"/>
    <p:sldId id="299" r:id="rId22"/>
    <p:sldId id="300" r:id="rId23"/>
    <p:sldId id="302" r:id="rId24"/>
    <p:sldId id="301" r:id="rId25"/>
    <p:sldId id="29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33CC"/>
    <a:srgbClr val="262626"/>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57" d="100"/>
          <a:sy n="57" d="100"/>
        </p:scale>
        <p:origin x="-756" y="-9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847EA-9081-43A3-8211-C31C722014ED}" type="datetimeFigureOut">
              <a:rPr lang="en-US" smtClean="0"/>
              <a:pPr/>
              <a:t>5/20/2021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127234-4CCC-4D44-8574-686ADA7EE3A8}" type="slidenum">
              <a:rPr lang="en-US" smtClean="0"/>
              <a:pPr/>
              <a:t>‹#›</a:t>
            </a:fld>
            <a:endParaRPr lang="en-US" dirty="0"/>
          </a:p>
        </p:txBody>
      </p:sp>
    </p:spTree>
    <p:extLst>
      <p:ext uri="{BB962C8B-B14F-4D97-AF65-F5344CB8AC3E}">
        <p14:creationId xmlns="" xmlns:p14="http://schemas.microsoft.com/office/powerpoint/2010/main" val="470478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7983232" y="5037663"/>
            <a:ext cx="897467" cy="279400"/>
          </a:xfrm>
        </p:spPr>
        <p:txBody>
          <a:bodyPr/>
          <a:lstStyle/>
          <a:p>
            <a:fld id="{A25E670C-5F98-4961-8C9F-57D63CE84659}" type="datetime1">
              <a:rPr lang="en-US" smtClean="0"/>
              <a:pPr/>
              <a:t>5/20/2021</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BB5DE5-E34F-4568-A4F3-414B5E687484}"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879F7F-0577-44B4-BD0A-504FDE45910F}"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8531DE-2204-4420-8EDD-B13AF617CD81}" type="datetime1">
              <a:rPr lang="en-US" smtClean="0"/>
              <a:pPr/>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F3540B7-12B4-44C4-B128-45E241C8D123}" type="datetime1">
              <a:rPr lang="en-US" smtClean="0"/>
              <a:pPr/>
              <a:t>5/20/2021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FCEFDD-B123-4C25-A5BF-FEAEE2F07A3F}" type="datetime1">
              <a:rPr lang="en-US" smtClean="0"/>
              <a:pPr/>
              <a:t>5/20/2021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300D3C-0497-4FC6-8D6D-9AF5EE895CF1}" type="datetime1">
              <a:rPr lang="en-US" smtClean="0"/>
              <a:pPr/>
              <a:t>5/20/2021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AB222B1-F1F7-463E-B949-0AC9E3253AA7}" type="datetime1">
              <a:rPr lang="en-US" smtClean="0"/>
              <a:pPr/>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369C5D6-5912-49F2-84D6-8E719EAC93E6}" type="datetime1">
              <a:rPr lang="en-US" smtClean="0"/>
              <a:pPr/>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CB41C99-057F-4FBD-845B-32D673B4DEBB}" type="datetime1">
              <a:rPr lang="en-US" smtClean="0"/>
              <a:pPr/>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F81F435-97A5-4A26-BB2D-43B7BA0D4E2A}"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9413E38-C98F-4111-98A9-83F0DADA77A7}"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EC9329F-C0AA-4519-8CC8-15655E3CE069}"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9F0A885-74DC-4CF2-AAB3-12F04A474BD0}"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5B85394-30EA-4FB8-A570-E6FD01E18BD5}"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B6E6B1-64AF-47FF-84F1-CFD070D0246D}"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192265-CF42-467A-9B40-C103C58E7FA9}" type="datetime1">
              <a:rPr lang="en-US" smtClean="0"/>
              <a:pPr/>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753C87-E0CE-4BBA-8ADC-04D27885436A}" type="datetime1">
              <a:rPr lang="en-US" smtClean="0"/>
              <a:pPr/>
              <a:t>5/20/2021</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upload.wikimedia.org/wikipedia/en/4/46/JSPLife.jpg"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Rectangle 26">
            <a:extLst>
              <a:ext uri="{FF2B5EF4-FFF2-40B4-BE49-F238E27FC236}">
                <a16:creationId xmlns="" xmlns:a16="http://schemas.microsoft.com/office/drawing/2014/main" id="{C9D262D4-AE8B-4620-949A-609FC366FC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202616" y="1411015"/>
            <a:ext cx="7808159" cy="4103960"/>
          </a:xfrm>
          <a:prstGeom prst="rect">
            <a:avLst/>
          </a:prstGeom>
          <a:blipFill dpi="0" rotWithShape="1">
            <a:blip r:embed="rId2">
              <a:alphaModFix amt="90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 xmlns:a16="http://schemas.microsoft.com/office/drawing/2014/main" id="{3605853C-E63A-49E2-84A4-4B7DD77A562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grpSp>
        <p:nvGrpSpPr>
          <p:cNvPr id="31" name="Group 30">
            <a:extLst>
              <a:ext uri="{FF2B5EF4-FFF2-40B4-BE49-F238E27FC236}">
                <a16:creationId xmlns="" xmlns:a16="http://schemas.microsoft.com/office/drawing/2014/main" id="{9500549F-5B68-400C-A605-BDF102BDBB0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0" y="3123631"/>
            <a:ext cx="12231160" cy="659658"/>
            <a:chOff x="-16934" y="3123631"/>
            <a:chExt cx="12231160" cy="659658"/>
          </a:xfrm>
        </p:grpSpPr>
        <p:sp>
          <p:nvSpPr>
            <p:cNvPr id="32" name="Rounded Rectangle 17">
              <a:extLst>
                <a:ext uri="{FF2B5EF4-FFF2-40B4-BE49-F238E27FC236}">
                  <a16:creationId xmlns="" xmlns:a16="http://schemas.microsoft.com/office/drawing/2014/main" id="{CE12C213-76C6-4953-849D-69BD0C0740F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a:extLst>
                <a:ext uri="{FF2B5EF4-FFF2-40B4-BE49-F238E27FC236}">
                  <a16:creationId xmlns="" xmlns:a16="http://schemas.microsoft.com/office/drawing/2014/main" id="{85D5C439-F0A9-41AB-BF38-FB38EB00B7C2}"/>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rotWithShape="1">
            <a:blip r:embed="rId3">
              <a:extLst>
                <a:ext uri="{28A0092B-C50C-407E-A947-70E740481C1C}">
                  <a14:useLocalDpi xmlns="" xmlns:a14="http://schemas.microsoft.com/office/drawing/2010/main" val="0"/>
                </a:ext>
              </a:extLst>
            </a:blip>
            <a:srcRect/>
            <a:stretch/>
          </p:blipFill>
          <p:spPr>
            <a:xfrm>
              <a:off x="-16934" y="3145536"/>
              <a:ext cx="2478024" cy="612648"/>
            </a:xfrm>
            <a:prstGeom prst="rect">
              <a:avLst/>
            </a:prstGeom>
          </p:spPr>
        </p:pic>
        <p:sp>
          <p:nvSpPr>
            <p:cNvPr id="34" name="Rounded Rectangle 20">
              <a:extLst>
                <a:ext uri="{FF2B5EF4-FFF2-40B4-BE49-F238E27FC236}">
                  <a16:creationId xmlns="" xmlns:a16="http://schemas.microsoft.com/office/drawing/2014/main" id="{CE714C63-2EB2-4CE0-8982-994E7A37AA8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 xmlns:a16="http://schemas.microsoft.com/office/drawing/2014/main" id="{CE568286-7D0B-4E62-BC33-A99A0FD743D3}"/>
                </a:ext>
                <a:ext uri="{C183D7F6-B498-43B3-948B-1728B52AA6E4}">
                  <adec:decorative xmlns="" xmlns:adec="http://schemas.microsoft.com/office/drawing/2017/decorative" val="1"/>
                </a:ext>
              </a:extLst>
            </p:cNvPr>
            <p:cNvPicPr>
              <a:picLocks noChangeAspect="1"/>
            </p:cNvPicPr>
            <p:nvPr>
              <p:extLst>
                <p:ext uri="{386F3935-93C4-4BCD-93E2-E3B085C9AB24}">
                  <p16:designElem xmlns="" xmlns:p16="http://schemas.microsoft.com/office/powerpoint/2015/main" val="1"/>
                </p:ext>
              </p:extLst>
            </p:nvPr>
          </p:nvPicPr>
          <p:blipFill rotWithShape="1">
            <a:blip r:embed="rId3">
              <a:extLst>
                <a:ext uri="{28A0092B-C50C-407E-A947-70E740481C1C}">
                  <a14:useLocalDpi xmlns="" xmlns:a14="http://schemas.microsoft.com/office/drawing/2010/main" val="0"/>
                </a:ext>
              </a:extLst>
            </a:blip>
            <a:srcRect/>
            <a:stretch/>
          </p:blipFill>
          <p:spPr>
            <a:xfrm>
              <a:off x="9736202" y="3145536"/>
              <a:ext cx="2478024" cy="612648"/>
            </a:xfrm>
            <a:prstGeom prst="rect">
              <a:avLst/>
            </a:prstGeom>
          </p:spPr>
        </p:pic>
      </p:grpSp>
      <p:sp>
        <p:nvSpPr>
          <p:cNvPr id="2" name="Title 1">
            <a:extLst>
              <a:ext uri="{FF2B5EF4-FFF2-40B4-BE49-F238E27FC236}">
                <a16:creationId xmlns="" xmlns:a16="http://schemas.microsoft.com/office/drawing/2014/main" id="{BC07B5B3-DDE8-49F7-B2D1-6919986D2B1F}"/>
              </a:ext>
            </a:extLst>
          </p:cNvPr>
          <p:cNvSpPr>
            <a:spLocks noGrp="1"/>
          </p:cNvSpPr>
          <p:nvPr>
            <p:ph type="ctrTitle"/>
          </p:nvPr>
        </p:nvSpPr>
        <p:spPr>
          <a:xfrm>
            <a:off x="2804382" y="2680282"/>
            <a:ext cx="6815669" cy="1515533"/>
          </a:xfrm>
        </p:spPr>
        <p:txBody>
          <a:bodyPr>
            <a:noAutofit/>
          </a:bodyPr>
          <a:lstStyle/>
          <a:p>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Fake Product Identification Using Block chain</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7" name="Straight Connector 36">
            <a:extLst>
              <a:ext uri="{FF2B5EF4-FFF2-40B4-BE49-F238E27FC236}">
                <a16:creationId xmlns="" xmlns:a16="http://schemas.microsoft.com/office/drawing/2014/main" id="{1E22DAF0-5C05-4D01-A6C7-28326657739A}"/>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pic>
        <p:nvPicPr>
          <p:cNvPr id="11" name="Google Shape;145;p27" descr="Banner2018-"/>
          <p:cNvPicPr preferRelativeResize="0"/>
          <p:nvPr/>
        </p:nvPicPr>
        <p:blipFill rotWithShape="1">
          <a:blip r:embed="rId4">
            <a:alphaModFix/>
          </a:blip>
          <a:srcRect/>
          <a:stretch/>
        </p:blipFill>
        <p:spPr>
          <a:xfrm>
            <a:off x="4103766" y="126124"/>
            <a:ext cx="4127101" cy="1168850"/>
          </a:xfrm>
          <a:prstGeom prst="rect">
            <a:avLst/>
          </a:prstGeom>
          <a:noFill/>
          <a:ln>
            <a:noFill/>
          </a:ln>
        </p:spPr>
      </p:pic>
      <p:sp>
        <p:nvSpPr>
          <p:cNvPr id="12" name="TextBox 11"/>
          <p:cNvSpPr txBox="1"/>
          <p:nvPr/>
        </p:nvSpPr>
        <p:spPr>
          <a:xfrm>
            <a:off x="3851790" y="1597573"/>
            <a:ext cx="4884799" cy="1006429"/>
          </a:xfrm>
          <a:prstGeom prst="rect">
            <a:avLst/>
          </a:prstGeom>
          <a:noFill/>
        </p:spPr>
        <p:txBody>
          <a:bodyPr wrap="none" rtlCol="0">
            <a:spAutoFit/>
          </a:bodyPr>
          <a:lstStyle/>
          <a:p>
            <a:pPr lvl="0" algn="ctr">
              <a:lnSpc>
                <a:spcPct val="115000"/>
              </a:lnSpc>
              <a:buClr>
                <a:schemeClr val="dk1"/>
              </a:buClr>
              <a:buSzPts val="2000"/>
            </a:pPr>
            <a:r>
              <a:rPr lang="en-IN" b="1" u="sng" dirty="0" smtClean="0">
                <a:solidFill>
                  <a:srgbClr val="0070C0"/>
                </a:solidFill>
                <a:latin typeface="Times New Roman"/>
                <a:ea typeface="Times New Roman"/>
                <a:cs typeface="Times New Roman"/>
                <a:sym typeface="Times New Roman"/>
              </a:rPr>
              <a:t>DEPARTMENT OF </a:t>
            </a:r>
            <a:endParaRPr lang="en-IN" u="sng" dirty="0" smtClean="0">
              <a:solidFill>
                <a:srgbClr val="0070C0"/>
              </a:solidFill>
              <a:latin typeface="Calibri"/>
              <a:ea typeface="Calibri"/>
              <a:cs typeface="Calibri"/>
              <a:sym typeface="Calibri"/>
            </a:endParaRPr>
          </a:p>
          <a:p>
            <a:pPr lvl="0" algn="ctr">
              <a:lnSpc>
                <a:spcPct val="115000"/>
              </a:lnSpc>
              <a:buClr>
                <a:schemeClr val="dk1"/>
              </a:buClr>
              <a:buSzPts val="2000"/>
            </a:pPr>
            <a:r>
              <a:rPr lang="en-IN" b="1" u="sng" dirty="0" smtClean="0">
                <a:solidFill>
                  <a:srgbClr val="0070C0"/>
                </a:solidFill>
                <a:latin typeface="Times New Roman"/>
                <a:ea typeface="Times New Roman"/>
                <a:cs typeface="Times New Roman"/>
                <a:sym typeface="Times New Roman"/>
              </a:rPr>
              <a:t>COMPUTER SCIENCE AND ENGINEERING</a:t>
            </a:r>
            <a:endParaRPr lang="en-IN" u="sng" dirty="0" smtClean="0">
              <a:solidFill>
                <a:srgbClr val="0070C0"/>
              </a:solidFill>
            </a:endParaRPr>
          </a:p>
          <a:p>
            <a:pPr algn="ctr"/>
            <a:endParaRPr lang="en-IN" u="sng" dirty="0"/>
          </a:p>
        </p:txBody>
      </p:sp>
      <p:sp>
        <p:nvSpPr>
          <p:cNvPr id="13" name="TextBox 12"/>
          <p:cNvSpPr txBox="1"/>
          <p:nvPr/>
        </p:nvSpPr>
        <p:spPr>
          <a:xfrm>
            <a:off x="5202621" y="4719145"/>
            <a:ext cx="1308115" cy="461665"/>
          </a:xfrm>
          <a:prstGeom prst="rect">
            <a:avLst/>
          </a:prstGeom>
          <a:solidFill>
            <a:schemeClr val="tx2">
              <a:lumMod val="60000"/>
              <a:lumOff val="40000"/>
            </a:schemeClr>
          </a:solidFill>
        </p:spPr>
        <p:txBody>
          <a:bodyPr wrap="none" rtlCol="0">
            <a:spAutoFit/>
          </a:bodyPr>
          <a:lstStyle/>
          <a:p>
            <a:pPr algn="ctr"/>
            <a:r>
              <a:rPr lang="en-US" sz="2400" b="1" i="1" u="sng" dirty="0" smtClean="0">
                <a:solidFill>
                  <a:srgbClr val="FFFFFF"/>
                </a:solidFill>
                <a:effectLst>
                  <a:outerShdw blurRad="38100" dist="38100" dir="2700000" algn="tl">
                    <a:srgbClr val="000000">
                      <a:alpha val="43137"/>
                    </a:srgbClr>
                  </a:outerShdw>
                </a:effectLst>
                <a:latin typeface="Franklin Gothic Medium Cond" pitchFamily="34" charset="0"/>
              </a:rPr>
              <a:t>Batch -A8</a:t>
            </a:r>
            <a:endParaRPr lang="en-IN" sz="2400" b="1" i="1" u="sng" dirty="0">
              <a:solidFill>
                <a:srgbClr val="FFFFFF"/>
              </a:solidFill>
              <a:effectLst>
                <a:outerShdw blurRad="38100" dist="38100" dir="2700000" algn="tl">
                  <a:srgbClr val="000000">
                    <a:alpha val="43137"/>
                  </a:srgbClr>
                </a:outerShdw>
              </a:effectLst>
              <a:latin typeface="Franklin Gothic Medium Cond" pitchFamily="34" charset="0"/>
            </a:endParaRPr>
          </a:p>
        </p:txBody>
      </p:sp>
      <p:sp>
        <p:nvSpPr>
          <p:cNvPr id="14" name="TextBox 13"/>
          <p:cNvSpPr txBox="1"/>
          <p:nvPr/>
        </p:nvSpPr>
        <p:spPr>
          <a:xfrm>
            <a:off x="4056993" y="5580993"/>
            <a:ext cx="3959738" cy="923330"/>
          </a:xfrm>
          <a:prstGeom prst="rect">
            <a:avLst/>
          </a:prstGeom>
          <a:noFill/>
        </p:spPr>
        <p:txBody>
          <a:bodyPr wrap="none" rtlCol="0">
            <a:spAutoFit/>
          </a:bodyPr>
          <a:lstStyle/>
          <a:p>
            <a:pPr>
              <a:buFont typeface="Arial" pitchFamily="34" charset="0"/>
              <a:buChar char="•"/>
            </a:pPr>
            <a:r>
              <a:rPr lang="en-US" b="1" dirty="0" smtClean="0"/>
              <a:t> B.DINESH KUMAR      -  171061101031</a:t>
            </a:r>
          </a:p>
          <a:p>
            <a:pPr>
              <a:buFont typeface="Arial" pitchFamily="34" charset="0"/>
              <a:buChar char="•"/>
            </a:pPr>
            <a:r>
              <a:rPr lang="en-US" b="1" dirty="0" smtClean="0"/>
              <a:t> M.HAARISH KUMAR  -  171061101045</a:t>
            </a:r>
          </a:p>
          <a:p>
            <a:pPr algn="ctr">
              <a:buFont typeface="Arial" pitchFamily="34" charset="0"/>
              <a:buChar char="•"/>
            </a:pPr>
            <a:r>
              <a:rPr lang="en-US" b="1" dirty="0" smtClean="0"/>
              <a:t> R.GOBINATH               -   171061101606</a:t>
            </a:r>
          </a:p>
        </p:txBody>
      </p:sp>
    </p:spTree>
    <p:extLst>
      <p:ext uri="{BB962C8B-B14F-4D97-AF65-F5344CB8AC3E}">
        <p14:creationId xmlns="" xmlns:p14="http://schemas.microsoft.com/office/powerpoint/2010/main" val="38390776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ABSTRACT</a:t>
            </a:r>
            <a:r>
              <a:rPr lang="en-US" sz="2800" b="1" dirty="0" smtClean="0">
                <a:solidFill>
                  <a:schemeClr val="tx1"/>
                </a:solidFill>
                <a:latin typeface="Times New Roman" panose="02020603050405020304" pitchFamily="18" charset="0"/>
                <a:cs typeface="Times New Roman" panose="02020603050405020304" pitchFamily="18" charset="0"/>
              </a:rPr>
              <a:t>:</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IN" dirty="0" smtClean="0">
                <a:latin typeface="Times New Roman" panose="02020603050405020304" pitchFamily="18" charset="0"/>
                <a:cs typeface="Times New Roman" panose="02020603050405020304" pitchFamily="18" charset="0"/>
              </a:rPr>
              <a:t>	In </a:t>
            </a:r>
            <a:r>
              <a:rPr lang="en-IN" dirty="0">
                <a:latin typeface="Times New Roman" panose="02020603050405020304" pitchFamily="18" charset="0"/>
                <a:cs typeface="Times New Roman" panose="02020603050405020304" pitchFamily="18" charset="0"/>
              </a:rPr>
              <a:t>recent years, block chain has received increasing attention and numerous applications have emerged from this technology. In our </a:t>
            </a:r>
            <a:r>
              <a:rPr lang="en-IN" dirty="0" smtClean="0">
                <a:latin typeface="Times New Roman" panose="02020603050405020304" pitchFamily="18" charset="0"/>
                <a:cs typeface="Times New Roman" panose="02020603050405020304" pitchFamily="18" charset="0"/>
              </a:rPr>
              <a:t>Project we use </a:t>
            </a:r>
            <a:r>
              <a:rPr lang="en-IN" dirty="0">
                <a:latin typeface="Times New Roman" panose="02020603050405020304" pitchFamily="18" charset="0"/>
                <a:cs typeface="Times New Roman" panose="02020603050405020304" pitchFamily="18" charset="0"/>
              </a:rPr>
              <a:t>the decentralized Block chain technology approach to ensure that </a:t>
            </a:r>
            <a:r>
              <a:rPr lang="en-IN" dirty="0" smtClean="0">
                <a:latin typeface="Times New Roman" panose="02020603050405020304" pitchFamily="18" charset="0"/>
                <a:cs typeface="Times New Roman" panose="02020603050405020304" pitchFamily="18" charset="0"/>
              </a:rPr>
              <a:t>the consumers </a:t>
            </a:r>
            <a:r>
              <a:rPr lang="en-IN" dirty="0">
                <a:latin typeface="Times New Roman" panose="02020603050405020304" pitchFamily="18" charset="0"/>
                <a:cs typeface="Times New Roman" panose="02020603050405020304" pitchFamily="18" charset="0"/>
              </a:rPr>
              <a:t>do not fully rely on the merchants to </a:t>
            </a:r>
            <a:r>
              <a:rPr lang="en-IN" dirty="0" smtClean="0">
                <a:latin typeface="Times New Roman" panose="02020603050405020304" pitchFamily="18" charset="0"/>
                <a:cs typeface="Times New Roman" panose="02020603050405020304" pitchFamily="18" charset="0"/>
              </a:rPr>
              <a:t>determine that </a:t>
            </a:r>
            <a:r>
              <a:rPr lang="en-IN" dirty="0">
                <a:latin typeface="Times New Roman" panose="02020603050405020304" pitchFamily="18" charset="0"/>
                <a:cs typeface="Times New Roman" panose="02020603050405020304" pitchFamily="18" charset="0"/>
              </a:rPr>
              <a:t>if </a:t>
            </a:r>
            <a:r>
              <a:rPr lang="en-IN" dirty="0" smtClean="0">
                <a:latin typeface="Times New Roman" panose="02020603050405020304" pitchFamily="18" charset="0"/>
                <a:cs typeface="Times New Roman" panose="02020603050405020304" pitchFamily="18" charset="0"/>
              </a:rPr>
              <a:t>the products </a:t>
            </a:r>
            <a:r>
              <a:rPr lang="en-IN" dirty="0">
                <a:latin typeface="Times New Roman" panose="02020603050405020304" pitchFamily="18" charset="0"/>
                <a:cs typeface="Times New Roman" panose="02020603050405020304" pitchFamily="18" charset="0"/>
              </a:rPr>
              <a:t>are genuine. We describe a decentralized Block chain system with products anti-counterfeiting, in that way manufacturers can use this system to provide genuine products without having to </a:t>
            </a:r>
            <a:r>
              <a:rPr lang="en-IN" dirty="0" smtClean="0">
                <a:latin typeface="Times New Roman" panose="02020603050405020304" pitchFamily="18" charset="0"/>
                <a:cs typeface="Times New Roman" panose="02020603050405020304" pitchFamily="18" charset="0"/>
              </a:rPr>
              <a:t>manage by </a:t>
            </a:r>
            <a:r>
              <a:rPr lang="en-IN" dirty="0">
                <a:latin typeface="Times New Roman" panose="02020603050405020304" pitchFamily="18" charset="0"/>
                <a:cs typeface="Times New Roman" panose="02020603050405020304" pitchFamily="18" charset="0"/>
              </a:rPr>
              <a:t>direct-operated stores, which can significantly reduce the cost of product quality </a:t>
            </a:r>
            <a:r>
              <a:rPr lang="en-IN" dirty="0" smtClean="0">
                <a:latin typeface="Times New Roman" panose="02020603050405020304" pitchFamily="18" charset="0"/>
                <a:cs typeface="Times New Roman" panose="02020603050405020304" pitchFamily="18" charset="0"/>
              </a:rPr>
              <a:t>assurance.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7882420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smtClean="0">
                <a:latin typeface="Times New Roman" panose="02020603050405020304" pitchFamily="18" charset="0"/>
                <a:cs typeface="Times New Roman" panose="02020603050405020304" pitchFamily="18" charset="0"/>
              </a:rPr>
              <a:t>Defnition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US" dirty="0" smtClean="0">
                <a:latin typeface="Times New Roman" panose="02020603050405020304" pitchFamily="18" charset="0"/>
                <a:cs typeface="Times New Roman" panose="02020603050405020304" pitchFamily="18" charset="0"/>
              </a:rPr>
              <a:t>	</a:t>
            </a:r>
            <a:r>
              <a:rPr lang="en-US" smtClean="0">
                <a:latin typeface="Times New Roman" panose="02020603050405020304" pitchFamily="18" charset="0"/>
                <a:cs typeface="Times New Roman" panose="02020603050405020304" pitchFamily="18" charset="0"/>
              </a:rPr>
              <a:t>This project </a:t>
            </a:r>
            <a:r>
              <a:rPr lang="en-US" dirty="0">
                <a:latin typeface="Times New Roman" panose="02020603050405020304" pitchFamily="18" charset="0"/>
                <a:cs typeface="Times New Roman" panose="02020603050405020304" pitchFamily="18" charset="0"/>
              </a:rPr>
              <a:t>presents a data-based perspective on the perceived feasibility of </a:t>
            </a:r>
            <a:r>
              <a:rPr lang="en-US" dirty="0" smtClean="0">
                <a:latin typeface="Times New Roman" panose="02020603050405020304" pitchFamily="18" charset="0"/>
                <a:cs typeface="Times New Roman" panose="02020603050405020304" pitchFamily="18" charset="0"/>
              </a:rPr>
              <a:t>block chain-based </a:t>
            </a:r>
            <a:r>
              <a:rPr lang="en-US" dirty="0">
                <a:latin typeface="Times New Roman" panose="02020603050405020304" pitchFamily="18" charset="0"/>
                <a:cs typeface="Times New Roman" panose="02020603050405020304" pitchFamily="18" charset="0"/>
              </a:rPr>
              <a:t>innovation and value creation for supply chain operations and trade finance. While expectations remain high across all regions and industries, none of the study participants indicated a financial or customer value benefit realization to date.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94902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EXISTING SYSTEM</a:t>
            </a:r>
            <a:r>
              <a:rPr lang="en-IN" sz="2800" b="1" dirty="0" smtClean="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IN" b="1"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The Existing </a:t>
            </a:r>
            <a:r>
              <a:rPr lang="en-IN" dirty="0">
                <a:latin typeface="Times New Roman" panose="02020603050405020304" pitchFamily="18" charset="0"/>
                <a:cs typeface="Times New Roman" panose="02020603050405020304" pitchFamily="18" charset="0"/>
              </a:rPr>
              <a:t>system </a:t>
            </a:r>
            <a:r>
              <a:rPr lang="en-IN" dirty="0" smtClean="0">
                <a:latin typeface="Times New Roman" panose="02020603050405020304" pitchFamily="18" charset="0"/>
                <a:cs typeface="Times New Roman" panose="02020603050405020304" pitchFamily="18" charset="0"/>
              </a:rPr>
              <a:t>had been using the </a:t>
            </a:r>
            <a:r>
              <a:rPr lang="en-IN" dirty="0">
                <a:latin typeface="Times New Roman" panose="02020603050405020304" pitchFamily="18" charset="0"/>
                <a:cs typeface="Times New Roman" panose="02020603050405020304" pitchFamily="18" charset="0"/>
              </a:rPr>
              <a:t>current tracking system for Product delivery. In this method the admin can take all the control, so they can modify the data and also we need go for </a:t>
            </a:r>
            <a:r>
              <a:rPr lang="en-IN" dirty="0" smtClean="0">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third party for trust </a:t>
            </a:r>
            <a:r>
              <a:rPr lang="en-IN" dirty="0" smtClean="0">
                <a:latin typeface="Times New Roman" panose="02020603050405020304" pitchFamily="18" charset="0"/>
                <a:cs typeface="Times New Roman" panose="02020603050405020304" pitchFamily="18" charset="0"/>
              </a:rPr>
              <a:t>and </a:t>
            </a:r>
            <a:r>
              <a:rPr lang="en-IN" dirty="0">
                <a:latin typeface="Times New Roman" panose="02020603050405020304" pitchFamily="18" charset="0"/>
                <a:cs typeface="Times New Roman" panose="02020603050405020304" pitchFamily="18" charset="0"/>
              </a:rPr>
              <a:t>security. This system has a lot </a:t>
            </a:r>
            <a:r>
              <a:rPr lang="en-IN" dirty="0" smtClean="0">
                <a:latin typeface="Times New Roman" panose="02020603050405020304" pitchFamily="18" charset="0"/>
                <a:cs typeface="Times New Roman" panose="02020603050405020304" pitchFamily="18" charset="0"/>
              </a:rPr>
              <a:t>of possibility </a:t>
            </a:r>
            <a:r>
              <a:rPr lang="en-IN" dirty="0">
                <a:latin typeface="Times New Roman" panose="02020603050405020304" pitchFamily="18" charset="0"/>
                <a:cs typeface="Times New Roman" panose="02020603050405020304" pitchFamily="18" charset="0"/>
              </a:rPr>
              <a:t>to change the real product when it’s going to </a:t>
            </a:r>
            <a:r>
              <a:rPr lang="en-IN" dirty="0" smtClean="0">
                <a:latin typeface="Times New Roman" panose="02020603050405020304" pitchFamily="18" charset="0"/>
                <a:cs typeface="Times New Roman" panose="02020603050405020304" pitchFamily="18" charset="0"/>
              </a:rPr>
              <a:t>a customer</a:t>
            </a:r>
            <a:r>
              <a:rPr lang="en-IN"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 xmlns:p14="http://schemas.microsoft.com/office/powerpoint/2010/main" val="38840387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PROPOSED SYSTEM</a:t>
            </a:r>
            <a:r>
              <a:rPr lang="en-IN" sz="2800" b="1" dirty="0" smtClean="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r>
              <a:rPr lang="en-IN" dirty="0">
                <a:latin typeface="Times New Roman" panose="02020603050405020304" pitchFamily="18" charset="0"/>
                <a:cs typeface="Times New Roman" panose="02020603050405020304" pitchFamily="18" charset="0"/>
              </a:rPr>
              <a:t>	Based on </a:t>
            </a:r>
            <a:r>
              <a:rPr lang="en-IN" dirty="0" smtClean="0">
                <a:latin typeface="Times New Roman" panose="02020603050405020304" pitchFamily="18" charset="0"/>
                <a:cs typeface="Times New Roman" panose="02020603050405020304" pitchFamily="18" charset="0"/>
              </a:rPr>
              <a:t>the existing </a:t>
            </a:r>
            <a:r>
              <a:rPr lang="en-IN" dirty="0">
                <a:latin typeface="Times New Roman" panose="02020603050405020304" pitchFamily="18" charset="0"/>
                <a:cs typeface="Times New Roman" panose="02020603050405020304" pitchFamily="18" charset="0"/>
              </a:rPr>
              <a:t>problems we propose the emerging technology is block chain. In our system </a:t>
            </a:r>
            <a:r>
              <a:rPr lang="en-IN" dirty="0" smtClean="0">
                <a:latin typeface="Times New Roman" panose="02020603050405020304" pitchFamily="18" charset="0"/>
                <a:cs typeface="Times New Roman" panose="02020603050405020304" pitchFamily="18" charset="0"/>
              </a:rPr>
              <a:t>we will </a:t>
            </a:r>
            <a:r>
              <a:rPr lang="en-IN" dirty="0">
                <a:latin typeface="Times New Roman" panose="02020603050405020304" pitchFamily="18" charset="0"/>
                <a:cs typeface="Times New Roman" panose="02020603050405020304" pitchFamily="18" charset="0"/>
              </a:rPr>
              <a:t>enable the communication between the customer and all other departments. </a:t>
            </a:r>
            <a:r>
              <a:rPr lang="en-IN" dirty="0" smtClean="0">
                <a:latin typeface="Times New Roman" panose="02020603050405020304" pitchFamily="18" charset="0"/>
                <a:cs typeface="Times New Roman" panose="02020603050405020304" pitchFamily="18" charset="0"/>
              </a:rPr>
              <a:t>We will </a:t>
            </a:r>
            <a:r>
              <a:rPr lang="en-IN" dirty="0">
                <a:latin typeface="Times New Roman" panose="02020603050405020304" pitchFamily="18" charset="0"/>
                <a:cs typeface="Times New Roman" panose="02020603050405020304" pitchFamily="18" charset="0"/>
              </a:rPr>
              <a:t>make </a:t>
            </a:r>
            <a:r>
              <a:rPr lang="en-IN" dirty="0" smtClean="0">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trusted system </a:t>
            </a:r>
            <a:r>
              <a:rPr lang="en-IN" dirty="0" smtClean="0">
                <a:latin typeface="Times New Roman" panose="02020603050405020304" pitchFamily="18" charset="0"/>
                <a:cs typeface="Times New Roman" panose="02020603050405020304" pitchFamily="18" charset="0"/>
              </a:rPr>
              <a:t>and we </a:t>
            </a:r>
            <a:r>
              <a:rPr lang="en-IN" dirty="0">
                <a:latin typeface="Times New Roman" panose="02020603050405020304" pitchFamily="18" charset="0"/>
                <a:cs typeface="Times New Roman" panose="02020603050405020304" pitchFamily="18" charset="0"/>
              </a:rPr>
              <a:t>generate the script using smart contract using Ethereum Block chain. </a:t>
            </a:r>
            <a:r>
              <a:rPr lang="en-IN" dirty="0" smtClean="0">
                <a:latin typeface="Times New Roman" panose="02020603050405020304" pitchFamily="18" charset="0"/>
                <a:cs typeface="Times New Roman" panose="02020603050405020304" pitchFamily="18" charset="0"/>
              </a:rPr>
              <a:t>Also we introduce a the </a:t>
            </a:r>
            <a:r>
              <a:rPr lang="en-IN" dirty="0">
                <a:latin typeface="Times New Roman" panose="02020603050405020304" pitchFamily="18" charset="0"/>
                <a:cs typeface="Times New Roman" panose="02020603050405020304" pitchFamily="18" charset="0"/>
              </a:rPr>
              <a:t>Decentralised application for making user friendly GUI for the customer to see their details</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01542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SOFTWARE and HARDWARE REQUIREMENTS</a:t>
            </a:r>
            <a:r>
              <a:rPr lang="en-IN" sz="2800" b="1" dirty="0" smtClean="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marL="0" indent="0">
              <a:buNone/>
            </a:pPr>
            <a:r>
              <a:rPr lang="en-IN" b="1" dirty="0" smtClean="0">
                <a:latin typeface="Times New Roman" panose="02020603050405020304" pitchFamily="18" charset="0"/>
                <a:cs typeface="Times New Roman" panose="02020603050405020304" pitchFamily="18" charset="0"/>
              </a:rPr>
              <a:t>Software </a:t>
            </a:r>
            <a:r>
              <a:rPr lang="en-IN" b="1" dirty="0">
                <a:latin typeface="Times New Roman" panose="02020603050405020304" pitchFamily="18" charset="0"/>
                <a:cs typeface="Times New Roman" panose="02020603050405020304" pitchFamily="18" charset="0"/>
              </a:rPr>
              <a:t>Requirements</a:t>
            </a:r>
            <a:r>
              <a:rPr lang="en-IN" b="1" dirty="0" smtClean="0">
                <a:latin typeface="Times New Roman" panose="02020603050405020304" pitchFamily="18" charset="0"/>
                <a:cs typeface="Times New Roman" panose="02020603050405020304" pitchFamily="18" charset="0"/>
              </a:rPr>
              <a:t>:</a:t>
            </a:r>
          </a:p>
          <a:p>
            <a:r>
              <a:rPr lang="en-IN" dirty="0" err="1" smtClean="0">
                <a:latin typeface="Times New Roman" panose="02020603050405020304" pitchFamily="18" charset="0"/>
                <a:cs typeface="Times New Roman" panose="02020603050405020304" pitchFamily="18" charset="0"/>
              </a:rPr>
              <a:t>Adt</a:t>
            </a:r>
            <a:r>
              <a:rPr lang="en-IN" dirty="0" smtClean="0">
                <a:latin typeface="Times New Roman" panose="02020603050405020304" pitchFamily="18" charset="0"/>
                <a:cs typeface="Times New Roman" panose="02020603050405020304" pitchFamily="18" charset="0"/>
              </a:rPr>
              <a:t> bundle with eclipse</a:t>
            </a:r>
          </a:p>
          <a:p>
            <a:r>
              <a:rPr lang="en-IN" dirty="0" err="1" smtClean="0">
                <a:latin typeface="Times New Roman" panose="02020603050405020304" pitchFamily="18" charset="0"/>
                <a:cs typeface="Times New Roman" panose="02020603050405020304" pitchFamily="18" charset="0"/>
              </a:rPr>
              <a:t>Jdk</a:t>
            </a:r>
            <a:endParaRPr lang="en-IN" dirty="0" smtClean="0">
              <a:latin typeface="Times New Roman" panose="02020603050405020304" pitchFamily="18" charset="0"/>
              <a:cs typeface="Times New Roman" panose="02020603050405020304" pitchFamily="18" charset="0"/>
            </a:endParaRPr>
          </a:p>
          <a:p>
            <a:r>
              <a:rPr lang="en-IN" dirty="0" err="1" smtClean="0">
                <a:latin typeface="Times New Roman" panose="02020603050405020304" pitchFamily="18" charset="0"/>
                <a:cs typeface="Times New Roman" panose="02020603050405020304" pitchFamily="18" charset="0"/>
              </a:rPr>
              <a:t>Netbeans</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My SQL  </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b="1" dirty="0" smtClean="0">
                <a:latin typeface="Times New Roman" panose="02020603050405020304" pitchFamily="18" charset="0"/>
                <a:cs typeface="Times New Roman" panose="02020603050405020304" pitchFamily="18" charset="0"/>
              </a:rPr>
              <a:t>Hardware </a:t>
            </a:r>
            <a:r>
              <a:rPr lang="en-IN" b="1" dirty="0">
                <a:latin typeface="Times New Roman" panose="02020603050405020304" pitchFamily="18" charset="0"/>
                <a:cs typeface="Times New Roman" panose="02020603050405020304" pitchFamily="18" charset="0"/>
              </a:rPr>
              <a:t>Requirements: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Storage – 20 GB or above</a:t>
            </a:r>
          </a:p>
          <a:p>
            <a:r>
              <a:rPr lang="en-IN" dirty="0">
                <a:latin typeface="Times New Roman" panose="02020603050405020304" pitchFamily="18" charset="0"/>
                <a:cs typeface="Times New Roman" panose="02020603050405020304" pitchFamily="18" charset="0"/>
              </a:rPr>
              <a:t>RAM – 4GB or Above</a:t>
            </a:r>
          </a:p>
        </p:txBody>
      </p:sp>
    </p:spTree>
    <p:extLst>
      <p:ext uri="{BB962C8B-B14F-4D97-AF65-F5344CB8AC3E}">
        <p14:creationId xmlns="" xmlns:p14="http://schemas.microsoft.com/office/powerpoint/2010/main" val="118908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MODULES</a:t>
            </a:r>
            <a:endParaRPr lang="en-IN" dirty="0"/>
          </a:p>
        </p:txBody>
      </p:sp>
      <p:sp>
        <p:nvSpPr>
          <p:cNvPr id="3" name="Content Placeholder 2"/>
          <p:cNvSpPr>
            <a:spLocks noGrp="1"/>
          </p:cNvSpPr>
          <p:nvPr>
            <p:ph idx="1"/>
          </p:nvPr>
        </p:nvSpPr>
        <p:spPr/>
        <p:txBody>
          <a:bodyPr>
            <a:normAutofit/>
          </a:bodyPr>
          <a:lstStyle/>
          <a:p>
            <a:r>
              <a:rPr lang="en-US" dirty="0" smtClean="0">
                <a:solidFill>
                  <a:srgbClr val="000000"/>
                </a:solidFill>
              </a:rPr>
              <a:t>User</a:t>
            </a:r>
            <a:r>
              <a:rPr lang="en-IN" dirty="0" smtClean="0">
                <a:solidFill>
                  <a:srgbClr val="000000"/>
                </a:solidFill>
              </a:rPr>
              <a:t> Interface</a:t>
            </a:r>
          </a:p>
          <a:p>
            <a:r>
              <a:rPr lang="en-IN" dirty="0" smtClean="0">
                <a:solidFill>
                  <a:srgbClr val="000000"/>
                </a:solidFill>
              </a:rPr>
              <a:t>Database</a:t>
            </a:r>
          </a:p>
          <a:p>
            <a:r>
              <a:rPr lang="en-IN" dirty="0" smtClean="0">
                <a:solidFill>
                  <a:srgbClr val="000000"/>
                </a:solidFill>
              </a:rPr>
              <a:t>Authentication Module</a:t>
            </a:r>
          </a:p>
          <a:p>
            <a:r>
              <a:rPr lang="en-IN" dirty="0" smtClean="0">
                <a:solidFill>
                  <a:srgbClr val="000000"/>
                </a:solidFill>
              </a:rPr>
              <a:t>Block chain Creating and Mining</a:t>
            </a:r>
          </a:p>
          <a:p>
            <a:endParaRPr lang="en-IN" dirty="0" smtClean="0">
              <a:solidFill>
                <a:srgbClr val="000000"/>
              </a:solidFill>
            </a:endParaRPr>
          </a:p>
          <a:p>
            <a:endParaRPr lang="en-IN" dirty="0" smtClean="0">
              <a:solidFill>
                <a:srgbClr val="000000"/>
              </a:solidFill>
            </a:endParaRPr>
          </a:p>
          <a:p>
            <a:endParaRPr lang="en-IN" dirty="0" smtClean="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USER INTERFACE</a:t>
            </a:r>
            <a:endParaRPr lang="en-IN" dirty="0"/>
          </a:p>
        </p:txBody>
      </p:sp>
      <p:sp>
        <p:nvSpPr>
          <p:cNvPr id="3" name="Content Placeholder 2"/>
          <p:cNvSpPr>
            <a:spLocks noGrp="1"/>
          </p:cNvSpPr>
          <p:nvPr>
            <p:ph idx="1"/>
          </p:nvPr>
        </p:nvSpPr>
        <p:spPr/>
        <p:txBody>
          <a:bodyPr>
            <a:normAutofit/>
          </a:bodyPr>
          <a:lstStyle/>
          <a:p>
            <a:r>
              <a:rPr lang="en-IN" sz="3200" dirty="0" smtClean="0">
                <a:solidFill>
                  <a:srgbClr val="000000"/>
                </a:solidFill>
              </a:rPr>
              <a:t>The Block chain transactions and blocks can be visualized in a user interface. Creating web interface for scanning and transactions history on user interface</a:t>
            </a:r>
            <a:endParaRPr lang="en-IN"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000000"/>
                </a:solidFill>
              </a:rPr>
              <a:t>Block chain creating and mining: </a:t>
            </a:r>
            <a:br>
              <a:rPr lang="en-IN" b="1" dirty="0" smtClean="0">
                <a:solidFill>
                  <a:srgbClr val="000000"/>
                </a:solidFill>
              </a:rPr>
            </a:br>
            <a:endParaRPr lang="en-IN" dirty="0"/>
          </a:p>
        </p:txBody>
      </p:sp>
      <p:sp>
        <p:nvSpPr>
          <p:cNvPr id="3" name="Content Placeholder 2"/>
          <p:cNvSpPr>
            <a:spLocks noGrp="1"/>
          </p:cNvSpPr>
          <p:nvPr>
            <p:ph idx="1"/>
          </p:nvPr>
        </p:nvSpPr>
        <p:spPr/>
        <p:txBody>
          <a:bodyPr>
            <a:normAutofit/>
          </a:bodyPr>
          <a:lstStyle/>
          <a:p>
            <a:r>
              <a:rPr lang="en-IN" sz="3200" dirty="0" smtClean="0">
                <a:solidFill>
                  <a:srgbClr val="000000"/>
                </a:solidFill>
              </a:rPr>
              <a:t>On </a:t>
            </a:r>
            <a:r>
              <a:rPr lang="en-IN" sz="3200" dirty="0" err="1" smtClean="0">
                <a:solidFill>
                  <a:srgbClr val="000000"/>
                </a:solidFill>
              </a:rPr>
              <a:t>startup</a:t>
            </a:r>
            <a:r>
              <a:rPr lang="en-IN" sz="3200" dirty="0" smtClean="0">
                <a:solidFill>
                  <a:srgbClr val="000000"/>
                </a:solidFill>
              </a:rPr>
              <a:t>, create the genesis block then server initiates creation of new block and send the required data Create a new block with the scan data. Mine the block.</a:t>
            </a:r>
            <a:endParaRPr lang="en-IN"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904631" y="966952"/>
            <a:ext cx="2343077" cy="67710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2060"/>
                </a:solidFill>
                <a:effectLst/>
                <a:latin typeface="Cambria" pitchFamily="18" charset="0"/>
                <a:ea typeface="Cambria" pitchFamily="18" charset="0"/>
                <a:cs typeface="Arial" pitchFamily="34" charset="0"/>
              </a:rPr>
              <a:t>Data Flow Diagram: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pSp>
        <p:nvGrpSpPr>
          <p:cNvPr id="2049" name="Group 25"/>
          <p:cNvGrpSpPr>
            <a:grpSpLocks/>
          </p:cNvGrpSpPr>
          <p:nvPr/>
        </p:nvGrpSpPr>
        <p:grpSpPr bwMode="auto">
          <a:xfrm>
            <a:off x="3399919" y="1797327"/>
            <a:ext cx="5778500" cy="4167187"/>
            <a:chOff x="0" y="0"/>
            <a:chExt cx="97051" cy="40870"/>
          </a:xfrm>
        </p:grpSpPr>
        <p:grpSp>
          <p:nvGrpSpPr>
            <p:cNvPr id="4" name="Group 2"/>
            <p:cNvGrpSpPr>
              <a:grpSpLocks/>
            </p:cNvGrpSpPr>
            <p:nvPr/>
          </p:nvGrpSpPr>
          <p:grpSpPr bwMode="auto">
            <a:xfrm>
              <a:off x="0" y="0"/>
              <a:ext cx="97051" cy="40870"/>
              <a:chOff x="0" y="0"/>
              <a:chExt cx="97051" cy="40870"/>
            </a:xfrm>
          </p:grpSpPr>
          <p:sp>
            <p:nvSpPr>
              <p:cNvPr id="8" name="Rectangle 6"/>
              <p:cNvSpPr>
                <a:spLocks noChangeArrowheads="1"/>
              </p:cNvSpPr>
              <p:nvPr/>
            </p:nvSpPr>
            <p:spPr bwMode="auto">
              <a:xfrm>
                <a:off x="0" y="415"/>
                <a:ext cx="16902" cy="6096"/>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0000"/>
                    </a:solidFill>
                    <a:effectLst/>
                    <a:latin typeface="Calibri" pitchFamily="34" charset="0"/>
                    <a:ea typeface="Times New Roman" pitchFamily="18" charset="0"/>
                    <a:cs typeface="Calibri" pitchFamily="34" charset="0"/>
                  </a:rPr>
                  <a:t>manufacture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9" name="Rectangle 7"/>
              <p:cNvSpPr>
                <a:spLocks noChangeArrowheads="1"/>
              </p:cNvSpPr>
              <p:nvPr/>
            </p:nvSpPr>
            <p:spPr bwMode="auto">
              <a:xfrm>
                <a:off x="37130" y="415"/>
                <a:ext cx="16902" cy="6096"/>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Calibri" pitchFamily="34" charset="0"/>
                    <a:ea typeface="Times New Roman" pitchFamily="18" charset="0"/>
                    <a:cs typeface="Calibri" pitchFamily="34" charset="0"/>
                  </a:rPr>
                  <a:t>Retailer</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 name="Rectangle 8"/>
              <p:cNvSpPr>
                <a:spLocks noChangeArrowheads="1"/>
              </p:cNvSpPr>
              <p:nvPr/>
            </p:nvSpPr>
            <p:spPr bwMode="auto">
              <a:xfrm>
                <a:off x="74260" y="0"/>
                <a:ext cx="16902" cy="6096"/>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Calibri" pitchFamily="34" charset="0"/>
                    <a:ea typeface="Times New Roman" pitchFamily="18" charset="0"/>
                    <a:cs typeface="Calibri" pitchFamily="34" charset="0"/>
                  </a:rPr>
                  <a:t>Distributor</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 name="Rectangle 9"/>
              <p:cNvSpPr>
                <a:spLocks noChangeArrowheads="1"/>
              </p:cNvSpPr>
              <p:nvPr/>
            </p:nvSpPr>
            <p:spPr bwMode="auto">
              <a:xfrm>
                <a:off x="37688" y="18059"/>
                <a:ext cx="31061" cy="8395"/>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Calibri" pitchFamily="34" charset="0"/>
                    <a:ea typeface="Times New Roman" pitchFamily="18" charset="0"/>
                    <a:cs typeface="Calibri" pitchFamily="34" charset="0"/>
                  </a:rPr>
                  <a:t>Login/Registratio</a:t>
                </a:r>
                <a:r>
                  <a:rPr lang="en-US" sz="1400" dirty="0" smtClean="0">
                    <a:solidFill>
                      <a:srgbClr val="000000"/>
                    </a:solidFill>
                    <a:latin typeface="Calibri" pitchFamily="34" charset="0"/>
                    <a:ea typeface="Times New Roman" pitchFamily="18" charset="0"/>
                    <a:cs typeface="Calibri" pitchFamily="34" charset="0"/>
                  </a:rPr>
                  <a:t>n</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2" name="Flowchart: Magnetic Disk 10"/>
              <p:cNvSpPr>
                <a:spLocks noChangeArrowheads="1"/>
              </p:cNvSpPr>
              <p:nvPr/>
            </p:nvSpPr>
            <p:spPr bwMode="auto">
              <a:xfrm>
                <a:off x="1939" y="16279"/>
                <a:ext cx="14963" cy="9005"/>
              </a:xfrm>
              <a:prstGeom prst="flowChartMagneticDisk">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Calibri" pitchFamily="34" charset="0"/>
                    <a:ea typeface="Times New Roman" pitchFamily="18" charset="0"/>
                    <a:cs typeface="Calibri" pitchFamily="34" charset="0"/>
                  </a:rPr>
                  <a:t>DB</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Straight Arrow Connector 11"/>
              <p:cNvSpPr>
                <a:spLocks noChangeShapeType="1"/>
              </p:cNvSpPr>
              <p:nvPr/>
            </p:nvSpPr>
            <p:spPr bwMode="auto">
              <a:xfrm>
                <a:off x="45581" y="6511"/>
                <a:ext cx="0" cy="11222"/>
              </a:xfrm>
              <a:prstGeom prst="straightConnector1">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14" name="Straight Arrow Connector 12"/>
              <p:cNvSpPr>
                <a:spLocks noChangeShapeType="1"/>
              </p:cNvSpPr>
              <p:nvPr/>
            </p:nvSpPr>
            <p:spPr bwMode="auto">
              <a:xfrm flipH="1">
                <a:off x="45581" y="3048"/>
                <a:ext cx="28679" cy="14685"/>
              </a:xfrm>
              <a:prstGeom prst="straightConnector1">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15" name="Straight Arrow Connector 13"/>
              <p:cNvSpPr>
                <a:spLocks noChangeShapeType="1"/>
              </p:cNvSpPr>
              <p:nvPr/>
            </p:nvSpPr>
            <p:spPr bwMode="auto">
              <a:xfrm flipH="1">
                <a:off x="16902" y="20781"/>
                <a:ext cx="20228" cy="0"/>
              </a:xfrm>
              <a:prstGeom prst="straightConnector1">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16" name="Rectangle 14"/>
              <p:cNvSpPr>
                <a:spLocks noChangeArrowheads="1"/>
              </p:cNvSpPr>
              <p:nvPr/>
            </p:nvSpPr>
            <p:spPr bwMode="auto">
              <a:xfrm>
                <a:off x="9421" y="35052"/>
                <a:ext cx="19257" cy="5818"/>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Calibri" pitchFamily="34" charset="0"/>
                    <a:ea typeface="Times New Roman" pitchFamily="18" charset="0"/>
                    <a:cs typeface="Calibri" pitchFamily="34" charset="0"/>
                  </a:rPr>
                  <a:t>QR code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7" name="Straight Arrow Connector 15"/>
              <p:cNvSpPr>
                <a:spLocks noChangeShapeType="1"/>
              </p:cNvSpPr>
              <p:nvPr/>
            </p:nvSpPr>
            <p:spPr bwMode="auto">
              <a:xfrm flipH="1">
                <a:off x="28678" y="23829"/>
                <a:ext cx="16903" cy="14132"/>
              </a:xfrm>
              <a:prstGeom prst="straightConnector1">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18" name="Rectangle 16"/>
              <p:cNvSpPr>
                <a:spLocks noChangeArrowheads="1"/>
              </p:cNvSpPr>
              <p:nvPr/>
            </p:nvSpPr>
            <p:spPr bwMode="auto">
              <a:xfrm>
                <a:off x="74260" y="30605"/>
                <a:ext cx="22791" cy="10265"/>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Calibri" pitchFamily="34" charset="0"/>
                    <a:ea typeface="Times New Roman" pitchFamily="18" charset="0"/>
                    <a:cs typeface="Calibri" pitchFamily="34" charset="0"/>
                  </a:rPr>
                  <a:t>Transactions For each scanning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grpSp>
          <p:nvGrpSpPr>
            <p:cNvPr id="5" name="Group 3"/>
            <p:cNvGrpSpPr>
              <a:grpSpLocks/>
            </p:cNvGrpSpPr>
            <p:nvPr/>
          </p:nvGrpSpPr>
          <p:grpSpPr bwMode="auto">
            <a:xfrm>
              <a:off x="16902" y="3463"/>
              <a:ext cx="56538" cy="34626"/>
              <a:chOff x="16902" y="3463"/>
              <a:chExt cx="56538" cy="34626"/>
            </a:xfrm>
          </p:grpSpPr>
          <p:sp>
            <p:nvSpPr>
              <p:cNvPr id="6" name="Straight Arrow Connector 4"/>
              <p:cNvSpPr>
                <a:spLocks noChangeShapeType="1"/>
              </p:cNvSpPr>
              <p:nvPr/>
            </p:nvSpPr>
            <p:spPr bwMode="auto">
              <a:xfrm>
                <a:off x="16902" y="3463"/>
                <a:ext cx="28679" cy="14270"/>
              </a:xfrm>
              <a:prstGeom prst="straightConnector1">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7" name="Straight Arrow Connector 5"/>
              <p:cNvSpPr>
                <a:spLocks noChangeShapeType="1"/>
              </p:cNvSpPr>
              <p:nvPr/>
            </p:nvSpPr>
            <p:spPr bwMode="auto">
              <a:xfrm flipV="1">
                <a:off x="27859" y="37961"/>
                <a:ext cx="45581" cy="128"/>
              </a:xfrm>
              <a:prstGeom prst="straightConnector1">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grpSp>
      </p:grpSp>
      <p:sp>
        <p:nvSpPr>
          <p:cNvPr id="2073" name="Rectangle 25"/>
          <p:cNvSpPr>
            <a:spLocks noChangeArrowheads="1"/>
          </p:cNvSpPr>
          <p:nvPr/>
        </p:nvSpPr>
        <p:spPr bwMode="auto">
          <a:xfrm>
            <a:off x="0" y="58420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09203" y="709314"/>
            <a:ext cx="4000000" cy="954107"/>
          </a:xfrm>
          <a:prstGeom prst="rect">
            <a:avLst/>
          </a:prstGeom>
        </p:spPr>
        <p:txBody>
          <a:bodyPr wrap="square" rtlCol="0">
            <a:spAutoFit/>
          </a:bodyPr>
          <a:lstStyle/>
          <a:p>
            <a:r>
              <a:rPr lang="en-US" sz="2800" dirty="0">
                <a:solidFill>
                  <a:srgbClr val="000000"/>
                </a:solidFill>
              </a:rPr>
              <a:t>DFD DIAGRAM</a:t>
            </a:r>
            <a:endParaRPr lang="en-IN" sz="2800" dirty="0">
              <a:solidFill>
                <a:srgbClr val="000000"/>
              </a:solidFill>
            </a:endParaRPr>
          </a:p>
          <a:p>
            <a:endParaRPr lang="en-IN" sz="2800" dirty="0">
              <a:solidFill>
                <a:srgbClr val="000000"/>
              </a:solidFill>
            </a:endParaRPr>
          </a:p>
        </p:txBody>
      </p:sp>
      <p:grpSp>
        <p:nvGrpSpPr>
          <p:cNvPr id="3" name="Group 2"/>
          <p:cNvGrpSpPr>
            <a:grpSpLocks/>
          </p:cNvGrpSpPr>
          <p:nvPr/>
        </p:nvGrpSpPr>
        <p:grpSpPr bwMode="auto">
          <a:xfrm>
            <a:off x="5423009" y="2030458"/>
            <a:ext cx="5812549" cy="3550535"/>
            <a:chOff x="0" y="0"/>
            <a:chExt cx="82850" cy="23414"/>
          </a:xfrm>
        </p:grpSpPr>
        <p:sp>
          <p:nvSpPr>
            <p:cNvPr id="4" name="Oval 24"/>
            <p:cNvSpPr>
              <a:spLocks noChangeArrowheads="1"/>
            </p:cNvSpPr>
            <p:nvPr/>
          </p:nvSpPr>
          <p:spPr bwMode="auto">
            <a:xfrm>
              <a:off x="0" y="0"/>
              <a:ext cx="17132" cy="8696"/>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ts val="500"/>
                </a:spcBef>
                <a:spcAft>
                  <a:spcPts val="500"/>
                </a:spcAft>
                <a:buClrTx/>
                <a:buSzTx/>
                <a:buFontTx/>
                <a:buNone/>
                <a:tabLst/>
              </a:pPr>
              <a:r>
                <a:rPr kumimoji="0" lang="en-US" sz="1400" b="0" i="0" u="none" strike="noStrike" cap="none" normalizeH="0" baseline="0" dirty="0" smtClean="0">
                  <a:ln>
                    <a:noFill/>
                  </a:ln>
                  <a:solidFill>
                    <a:srgbClr val="000000"/>
                  </a:solidFill>
                  <a:effectLst/>
                  <a:latin typeface="Calibri" pitchFamily="34" charset="0"/>
                  <a:cs typeface="Arial" pitchFamily="34" charset="0"/>
                </a:rPr>
                <a:t>New product</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Oval 25"/>
            <p:cNvSpPr>
              <a:spLocks noChangeArrowheads="1"/>
            </p:cNvSpPr>
            <p:nvPr/>
          </p:nvSpPr>
          <p:spPr bwMode="auto">
            <a:xfrm>
              <a:off x="30202" y="7897"/>
              <a:ext cx="15379" cy="7481"/>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ts val="500"/>
                </a:spcBef>
                <a:spcAft>
                  <a:spcPts val="500"/>
                </a:spcAft>
                <a:buClrTx/>
                <a:buSzTx/>
                <a:buFontTx/>
                <a:buNone/>
                <a:tabLst/>
              </a:pPr>
              <a:r>
                <a:rPr kumimoji="0" lang="en-US" sz="1800" b="0" i="0" u="none" strike="noStrike" cap="none" normalizeH="0" baseline="0" dirty="0" smtClean="0">
                  <a:ln>
                    <a:noFill/>
                  </a:ln>
                  <a:solidFill>
                    <a:srgbClr val="000000"/>
                  </a:solidFill>
                  <a:effectLst/>
                  <a:latin typeface="Calibri" pitchFamily="34" charset="0"/>
                  <a:cs typeface="Arial" pitchFamily="34" charset="0"/>
                </a:rPr>
                <a:t>Store in DB</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Oval 27"/>
            <p:cNvSpPr>
              <a:spLocks noChangeArrowheads="1"/>
            </p:cNvSpPr>
            <p:nvPr/>
          </p:nvSpPr>
          <p:spPr bwMode="auto">
            <a:xfrm>
              <a:off x="67471" y="15932"/>
              <a:ext cx="15379" cy="7482"/>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ts val="500"/>
                </a:spcBef>
                <a:spcAft>
                  <a:spcPts val="500"/>
                </a:spcAft>
                <a:buClrTx/>
                <a:buSzTx/>
                <a:buFontTx/>
                <a:buNone/>
                <a:tabLst/>
              </a:pPr>
              <a:r>
                <a:rPr kumimoji="0" lang="en-US" sz="1050" b="0" i="0" u="none" strike="noStrike" cap="none" normalizeH="0" baseline="0" dirty="0" smtClean="0">
                  <a:ln>
                    <a:noFill/>
                  </a:ln>
                  <a:solidFill>
                    <a:srgbClr val="000000"/>
                  </a:solidFill>
                  <a:effectLst/>
                  <a:latin typeface="Calibri" pitchFamily="34" charset="0"/>
                  <a:cs typeface="Arial" pitchFamily="34" charset="0"/>
                </a:rPr>
                <a:t>Validating with server</a:t>
              </a:r>
              <a:endParaRPr kumimoji="0" lang="en-US" sz="105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7" name="Curved Connector 28"/>
            <p:cNvCxnSpPr>
              <a:cxnSpLocks noChangeShapeType="1"/>
            </p:cNvCxnSpPr>
            <p:nvPr/>
          </p:nvCxnSpPr>
          <p:spPr bwMode="auto">
            <a:xfrm>
              <a:off x="17132" y="5753"/>
              <a:ext cx="13070" cy="6353"/>
            </a:xfrm>
            <a:prstGeom prst="curvedConnector3">
              <a:avLst>
                <a:gd name="adj1" fmla="val 50000"/>
              </a:avLst>
            </a:prstGeom>
            <a:noFill/>
            <a:ln w="6350">
              <a:solidFill>
                <a:srgbClr val="000000"/>
              </a:solidFill>
              <a:miter lim="800000"/>
              <a:headEnd/>
              <a:tailEnd type="triangle" w="med" len="med"/>
            </a:ln>
          </p:spPr>
        </p:cxnSp>
        <p:cxnSp>
          <p:nvCxnSpPr>
            <p:cNvPr id="8" name="Curved Connector 29"/>
            <p:cNvCxnSpPr>
              <a:cxnSpLocks noChangeShapeType="1"/>
            </p:cNvCxnSpPr>
            <p:nvPr/>
          </p:nvCxnSpPr>
          <p:spPr bwMode="auto">
            <a:xfrm>
              <a:off x="45581" y="12106"/>
              <a:ext cx="21890" cy="8035"/>
            </a:xfrm>
            <a:prstGeom prst="curvedConnector3">
              <a:avLst>
                <a:gd name="adj1" fmla="val 50000"/>
              </a:avLst>
            </a:prstGeom>
            <a:noFill/>
            <a:ln w="6350">
              <a:solidFill>
                <a:srgbClr val="000000"/>
              </a:solidFill>
              <a:miter lim="800000"/>
              <a:headEnd/>
              <a:tailEnd type="triangle" w="med" len="med"/>
            </a:ln>
          </p:spPr>
        </p:cxnSp>
      </p:grpSp>
      <p:grpSp>
        <p:nvGrpSpPr>
          <p:cNvPr id="9" name="Group 12"/>
          <p:cNvGrpSpPr>
            <a:grpSpLocks/>
          </p:cNvGrpSpPr>
          <p:nvPr/>
        </p:nvGrpSpPr>
        <p:grpSpPr bwMode="auto">
          <a:xfrm>
            <a:off x="980914" y="2456113"/>
            <a:ext cx="5857875" cy="2943225"/>
            <a:chOff x="0" y="0"/>
            <a:chExt cx="82850" cy="23414"/>
          </a:xfrm>
        </p:grpSpPr>
        <p:sp>
          <p:nvSpPr>
            <p:cNvPr id="10" name="Oval 18"/>
            <p:cNvSpPr>
              <a:spLocks noChangeArrowheads="1"/>
            </p:cNvSpPr>
            <p:nvPr/>
          </p:nvSpPr>
          <p:spPr bwMode="auto">
            <a:xfrm>
              <a:off x="0" y="0"/>
              <a:ext cx="15378" cy="7481"/>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Calibri" pitchFamily="34" charset="0"/>
                  <a:ea typeface="Times New Roman" pitchFamily="18" charset="0"/>
                  <a:cs typeface="Calibri" pitchFamily="34" charset="0"/>
                </a:rPr>
                <a:t>Start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Oval 19"/>
            <p:cNvSpPr>
              <a:spLocks noChangeArrowheads="1"/>
            </p:cNvSpPr>
            <p:nvPr/>
          </p:nvSpPr>
          <p:spPr bwMode="auto">
            <a:xfrm>
              <a:off x="30202" y="7897"/>
              <a:ext cx="15379" cy="7481"/>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Calibri" pitchFamily="34" charset="0"/>
                  <a:ea typeface="Times New Roman" pitchFamily="18" charset="0"/>
                  <a:cs typeface="Calibri" pitchFamily="34" charset="0"/>
                </a:rPr>
                <a:t>UI</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2" name="Oval 20"/>
            <p:cNvSpPr>
              <a:spLocks noChangeArrowheads="1"/>
            </p:cNvSpPr>
            <p:nvPr/>
          </p:nvSpPr>
          <p:spPr bwMode="auto">
            <a:xfrm>
              <a:off x="67471" y="15932"/>
              <a:ext cx="15379" cy="7482"/>
            </a:xfrm>
            <a:prstGeom prst="ellipse">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Calibri" pitchFamily="34" charset="0"/>
                  <a:ea typeface="Times New Roman" pitchFamily="18" charset="0"/>
                  <a:cs typeface="Calibri" pitchFamily="34" charset="0"/>
                </a:rPr>
                <a:t>Login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Curved Connector 21"/>
            <p:cNvSpPr>
              <a:spLocks noChangeShapeType="1"/>
            </p:cNvSpPr>
            <p:nvPr/>
          </p:nvSpPr>
          <p:spPr bwMode="auto">
            <a:xfrm>
              <a:off x="15378" y="3740"/>
              <a:ext cx="14824" cy="7897"/>
            </a:xfrm>
            <a:prstGeom prst="curvedConnector3">
              <a:avLst>
                <a:gd name="adj1" fmla="val 50000"/>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14" name="Curved Connector 22"/>
            <p:cNvSpPr>
              <a:spLocks noChangeShapeType="1"/>
            </p:cNvSpPr>
            <p:nvPr/>
          </p:nvSpPr>
          <p:spPr bwMode="auto">
            <a:xfrm>
              <a:off x="45581" y="11637"/>
              <a:ext cx="21890" cy="8036"/>
            </a:xfrm>
            <a:prstGeom prst="curvedConnector3">
              <a:avLst>
                <a:gd name="adj1" fmla="val 50000"/>
              </a:avLst>
            </a:prstGeom>
            <a:noFill/>
            <a:ln w="6350">
              <a:solidFill>
                <a:srgbClr val="000000"/>
              </a:solidFill>
              <a:miter lim="800000"/>
              <a:headEnd/>
              <a:tailEnd type="triangle" w="med" len="med"/>
            </a:ln>
          </p:spPr>
          <p:txBody>
            <a:bodyPr vert="horz" wrap="square" lIns="91440" tIns="45720" rIns="91440" bIns="45720" numCol="1" anchor="t" anchorCtr="0" compatLnSpc="1">
              <a:prstTxWarp prst="textNoShape">
                <a:avLst/>
              </a:prstTxWarp>
            </a:bodyPr>
            <a:lstStyle/>
            <a:p>
              <a:endParaRPr lang="en-IN"/>
            </a:p>
          </p:txBody>
        </p:sp>
      </p:grpSp>
      <p:sp>
        <p:nvSpPr>
          <p:cNvPr id="15" name="Rectangle 20"/>
          <p:cNvSpPr>
            <a:spLocks noChangeArrowheads="1"/>
          </p:cNvSpPr>
          <p:nvPr/>
        </p:nvSpPr>
        <p:spPr bwMode="auto">
          <a:xfrm>
            <a:off x="1355835" y="1524000"/>
            <a:ext cx="1892974"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LEVEL 0:</a:t>
            </a:r>
            <a:endParaRPr kumimoji="0" lang="en-US" sz="1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6" name="Rectangle 24"/>
          <p:cNvSpPr>
            <a:spLocks noChangeArrowheads="1"/>
          </p:cNvSpPr>
          <p:nvPr/>
        </p:nvSpPr>
        <p:spPr bwMode="auto">
          <a:xfrm>
            <a:off x="0" y="457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smtClean="0">
                <a:ln>
                  <a:noFill/>
                </a:ln>
                <a:solidFill>
                  <a:schemeClr val="tx1"/>
                </a:solidFill>
                <a:effectLst/>
                <a:latin typeface="Arial" pitchFamily="34" charset="0"/>
                <a:cs typeface="Arial" pitchFamily="34" charset="0"/>
              </a:rPr>
              <a:t/>
            </a:r>
            <a:br>
              <a:rPr kumimoji="0" lang="en-US" sz="900" b="0" i="0" u="none" strike="noStrike" cap="none" normalizeH="0" baseline="0" smtClean="0">
                <a:ln>
                  <a:noFill/>
                </a:ln>
                <a:solidFill>
                  <a:schemeClr val="tx1"/>
                </a:solidFill>
                <a:effectLst/>
                <a:latin typeface="Arial" pitchFamily="34" charset="0"/>
                <a:cs typeface="Arial" pitchFamily="34" charset="0"/>
              </a:rPr>
            </a:br>
            <a:endParaRPr kumimoji="0" lang="en-US" sz="1200" b="0" i="0" u="none" strike="noStrike" cap="none" normalizeH="0" baseline="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7" name="Rectangle 28"/>
          <p:cNvSpPr>
            <a:spLocks noChangeArrowheads="1"/>
          </p:cNvSpPr>
          <p:nvPr/>
        </p:nvSpPr>
        <p:spPr bwMode="auto">
          <a:xfrm>
            <a:off x="8271641" y="1550275"/>
            <a:ext cx="2953407" cy="8002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Level 1:</a:t>
            </a:r>
            <a:endParaRPr kumimoji="0" lang="en-US"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000461" y="871370"/>
            <a:ext cx="10327342" cy="4826954"/>
          </a:xfrm>
          <a:prstGeom prst="rect">
            <a:avLst/>
          </a:prstGeom>
          <a:noFill/>
          <a:ln w="9525">
            <a:noFill/>
            <a:miter lim="800000"/>
            <a:headEnd/>
            <a:tailEnd/>
          </a:ln>
          <a:effectLst/>
        </p:spPr>
        <p:txBody>
          <a:bodyPr vert="horz" wrap="square" lIns="91440" tIns="25392" rIns="9144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smtClean="0">
                <a:ln>
                  <a:noFill/>
                </a:ln>
                <a:solidFill>
                  <a:srgbClr val="243F60"/>
                </a:solidFill>
                <a:effectLst/>
                <a:latin typeface="Cambria" pitchFamily="18" charset="0"/>
                <a:ea typeface="Times New Roman" pitchFamily="18" charset="0"/>
                <a:cs typeface="Times New Roman" pitchFamily="18" charset="0"/>
              </a:rPr>
              <a:t>The Java Programming Language</a:t>
            </a:r>
            <a:r>
              <a:rPr kumimoji="0" lang="en-US" sz="2000" b="0" i="0" u="none" strike="noStrike" cap="none" normalizeH="0" baseline="0" dirty="0" smtClean="0">
                <a:ln>
                  <a:noFill/>
                </a:ln>
                <a:solidFill>
                  <a:srgbClr val="243F60"/>
                </a:solidFill>
                <a:effectLst/>
                <a:latin typeface="Cambria" pitchFamily="18" charset="0"/>
                <a:ea typeface="Times New Roman" pitchFamily="18" charset="0"/>
                <a:cs typeface="Times New Roman" pitchFamily="18" charset="0"/>
              </a:rPr>
              <a:t>:</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dirty="0" smtClean="0">
              <a:solidFill>
                <a:srgbClr val="243F60"/>
              </a:solidFill>
              <a:latin typeface="Cambria"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rgbClr val="243F60"/>
              </a:solidFill>
              <a:effectLst/>
              <a:latin typeface="Cambria"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Java programming language is a high-level language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that can be characterized by all of the following :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Simple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Architecture neutral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Object oriented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Portable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Distributed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High performance</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Picture 2" descr="Description: Description: Figure showing MyProgram.java, API, Java Virtual Machine, and Hardware-Based Platform"/>
          <p:cNvPicPr/>
          <p:nvPr/>
        </p:nvPicPr>
        <p:blipFill>
          <a:blip r:embed="rId2">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cx="http://schemas.microsoft.com/office/drawing/2014/chartex" xmlns:wpc="http://schemas.microsoft.com/office/word/2010/wordprocessingCanvas" xmlns="" val="0"/>
              </a:ext>
            </a:extLst>
          </a:blip>
          <a:srcRect/>
          <a:stretch>
            <a:fillRect/>
          </a:stretch>
        </p:blipFill>
        <p:spPr bwMode="auto">
          <a:xfrm>
            <a:off x="8367600" y="1587762"/>
            <a:ext cx="1887467" cy="1116782"/>
          </a:xfrm>
          <a:prstGeom prst="rect">
            <a:avLst/>
          </a:prstGeom>
          <a:noFill/>
          <a:ln>
            <a:noFill/>
          </a:ln>
        </p:spPr>
      </p:pic>
      <p:pic>
        <p:nvPicPr>
          <p:cNvPr id="4" name="Picture 3" descr="Description: Description: Figure showing MyProgram.java, compiler, MyProgram.class, Java VM, and My Program running on a computer."/>
          <p:cNvPicPr/>
          <p:nvPr/>
        </p:nvPicPr>
        <p:blipFill>
          <a:blip r:embed="rId3">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cx="http://schemas.microsoft.com/office/drawing/2014/chartex" xmlns:wpc="http://schemas.microsoft.com/office/word/2010/wordprocessingCanvas" xmlns="" val="0"/>
              </a:ext>
            </a:extLst>
          </a:blip>
          <a:srcRect/>
          <a:stretch>
            <a:fillRect/>
          </a:stretch>
        </p:blipFill>
        <p:spPr bwMode="auto">
          <a:xfrm>
            <a:off x="5887458" y="3840537"/>
            <a:ext cx="4116557" cy="90875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escription: Description: Image:JSPLife.jpg">
            <a:hlinkClick r:id="rId2"/>
          </p:cNvPr>
          <p:cNvPicPr/>
          <p:nvPr/>
        </p:nvPicPr>
        <p:blipFill>
          <a:blip r:embed="rId3">
            <a:grayscl/>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cx="http://schemas.microsoft.com/office/drawing/2014/chartex" xmlns:wpc="http://schemas.microsoft.com/office/word/2010/wordprocessingCanvas" xmlns="" val="0"/>
              </a:ext>
            </a:extLst>
          </a:blip>
          <a:srcRect l="1949"/>
          <a:stretch>
            <a:fillRect/>
          </a:stretch>
        </p:blipFill>
        <p:spPr bwMode="auto">
          <a:xfrm>
            <a:off x="3093326" y="1942279"/>
            <a:ext cx="6281902" cy="4027597"/>
          </a:xfrm>
          <a:prstGeom prst="rect">
            <a:avLst/>
          </a:prstGeom>
          <a:noFill/>
          <a:ln>
            <a:noFill/>
          </a:ln>
        </p:spPr>
      </p:pic>
      <p:sp>
        <p:nvSpPr>
          <p:cNvPr id="3" name="TextBox 2"/>
          <p:cNvSpPr txBox="1"/>
          <p:nvPr/>
        </p:nvSpPr>
        <p:spPr>
          <a:xfrm>
            <a:off x="4256690" y="1082565"/>
            <a:ext cx="3426323" cy="584775"/>
          </a:xfrm>
          <a:prstGeom prst="rect">
            <a:avLst/>
          </a:prstGeom>
          <a:noFill/>
        </p:spPr>
        <p:txBody>
          <a:bodyPr wrap="none" rtlCol="0">
            <a:spAutoFit/>
          </a:bodyPr>
          <a:lstStyle/>
          <a:p>
            <a:pPr algn="ctr"/>
            <a:r>
              <a:rPr lang="en-IN" sz="3200" dirty="0" smtClean="0">
                <a:solidFill>
                  <a:srgbClr val="002060"/>
                </a:solidFill>
                <a:latin typeface="Cambria" pitchFamily="18" charset="0"/>
                <a:ea typeface="Cambria" pitchFamily="18" charset="0"/>
              </a:rPr>
              <a:t>Architecture of </a:t>
            </a:r>
            <a:r>
              <a:rPr lang="en-IN" sz="3200" dirty="0" err="1" smtClean="0">
                <a:solidFill>
                  <a:srgbClr val="002060"/>
                </a:solidFill>
                <a:latin typeface="Cambria" pitchFamily="18" charset="0"/>
                <a:ea typeface="Cambria" pitchFamily="18" charset="0"/>
              </a:rPr>
              <a:t>Jsp</a:t>
            </a:r>
            <a:endParaRPr lang="en-IN" sz="3200" dirty="0">
              <a:solidFill>
                <a:srgbClr val="002060"/>
              </a:solidFill>
              <a:latin typeface="Cambria" pitchFamily="18" charset="0"/>
              <a:ea typeface="Cambria"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smtClean="0">
                <a:latin typeface="Times New Roman" panose="02020603050405020304" pitchFamily="18" charset="0"/>
                <a:cs typeface="Times New Roman" panose="02020603050405020304" pitchFamily="18" charset="0"/>
              </a:rPr>
              <a:t>ADVANTAGE OF USING BLOCK CHAIN:</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r>
              <a:rPr lang="en-IN" dirty="0" smtClean="0">
                <a:latin typeface="Times New Roman" panose="02020603050405020304" pitchFamily="18" charset="0"/>
                <a:cs typeface="Times New Roman" panose="02020603050405020304" pitchFamily="18" charset="0"/>
              </a:rPr>
              <a:t>Improve </a:t>
            </a:r>
            <a:r>
              <a:rPr lang="en-IN" dirty="0">
                <a:latin typeface="Times New Roman" panose="02020603050405020304" pitchFamily="18" charset="0"/>
                <a:cs typeface="Times New Roman" panose="02020603050405020304" pitchFamily="18" charset="0"/>
              </a:rPr>
              <a:t>the security </a:t>
            </a:r>
          </a:p>
          <a:p>
            <a:pPr lvl="0"/>
            <a:r>
              <a:rPr lang="en-IN" dirty="0">
                <a:latin typeface="Times New Roman" panose="02020603050405020304" pitchFamily="18" charset="0"/>
                <a:cs typeface="Times New Roman" panose="02020603050405020304" pitchFamily="18" charset="0"/>
              </a:rPr>
              <a:t>Make a trusted chain for privacy</a:t>
            </a:r>
          </a:p>
          <a:p>
            <a:pPr lvl="0"/>
            <a:r>
              <a:rPr lang="en-IN" dirty="0">
                <a:latin typeface="Times New Roman" panose="02020603050405020304" pitchFamily="18" charset="0"/>
                <a:cs typeface="Times New Roman" panose="02020603050405020304" pitchFamily="18" charset="0"/>
              </a:rPr>
              <a:t>Its fully de-centralised </a:t>
            </a:r>
            <a:r>
              <a:rPr lang="en-IN" dirty="0" smtClean="0">
                <a:latin typeface="Times New Roman" panose="02020603050405020304" pitchFamily="18" charset="0"/>
                <a:cs typeface="Times New Roman" panose="02020603050405020304" pitchFamily="18" charset="0"/>
              </a:rPr>
              <a:t>application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024048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smtClean="0">
                <a:latin typeface="Times New Roman" panose="02020603050405020304" pitchFamily="18" charset="0"/>
                <a:cs typeface="Times New Roman" panose="02020603050405020304" pitchFamily="18" charset="0"/>
              </a:rPr>
              <a:t>DISADVANTAGE OF USING CURRENT SYSTEM:</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lvl="0"/>
            <a:r>
              <a:rPr lang="en-IN" dirty="0" smtClean="0">
                <a:latin typeface="Times New Roman" panose="02020603050405020304" pitchFamily="18" charset="0"/>
                <a:cs typeface="Times New Roman" panose="02020603050405020304" pitchFamily="18" charset="0"/>
              </a:rPr>
              <a:t>This </a:t>
            </a:r>
            <a:r>
              <a:rPr lang="en-IN" dirty="0">
                <a:latin typeface="Times New Roman" panose="02020603050405020304" pitchFamily="18" charset="0"/>
                <a:cs typeface="Times New Roman" panose="02020603050405020304" pitchFamily="18" charset="0"/>
              </a:rPr>
              <a:t>system based on centralised system.</a:t>
            </a:r>
          </a:p>
          <a:p>
            <a:pPr lvl="0"/>
            <a:r>
              <a:rPr lang="en-IN" dirty="0">
                <a:latin typeface="Times New Roman" panose="02020603050405020304" pitchFamily="18" charset="0"/>
                <a:cs typeface="Times New Roman" panose="02020603050405020304" pitchFamily="18" charset="0"/>
              </a:rPr>
              <a:t>It has a less security</a:t>
            </a:r>
          </a:p>
          <a:p>
            <a:pPr lvl="0"/>
            <a:r>
              <a:rPr lang="en-IN" dirty="0">
                <a:latin typeface="Times New Roman" panose="02020603050405020304" pitchFamily="18" charset="0"/>
                <a:cs typeface="Times New Roman" panose="02020603050405020304" pitchFamily="18" charset="0"/>
              </a:rPr>
              <a:t>Data base handler can change the data</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462179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solidFill>
                  <a:srgbClr val="002060"/>
                </a:solidFill>
                <a:latin typeface="Cambria" pitchFamily="18" charset="0"/>
                <a:ea typeface="Cambria" pitchFamily="18" charset="0"/>
              </a:rPr>
              <a:t>FUTURE ENHANCEMENTS</a:t>
            </a:r>
            <a:endParaRPr lang="en-IN" sz="3200" dirty="0">
              <a:solidFill>
                <a:srgbClr val="002060"/>
              </a:solidFill>
              <a:latin typeface="Cambria" pitchFamily="18" charset="0"/>
              <a:ea typeface="Cambria" pitchFamily="18" charset="0"/>
            </a:endParaRPr>
          </a:p>
        </p:txBody>
      </p:sp>
      <p:sp>
        <p:nvSpPr>
          <p:cNvPr id="3" name="Content Placeholder 2"/>
          <p:cNvSpPr>
            <a:spLocks noGrp="1"/>
          </p:cNvSpPr>
          <p:nvPr>
            <p:ph idx="1"/>
          </p:nvPr>
        </p:nvSpPr>
        <p:spPr/>
        <p:txBody>
          <a:bodyPr/>
          <a:lstStyle/>
          <a:p>
            <a:r>
              <a:rPr lang="en-IN" dirty="0" smtClean="0">
                <a:solidFill>
                  <a:srgbClr val="000000"/>
                </a:solidFill>
              </a:rPr>
              <a:t>As we seen our projects it will work with information based. So we have to implement this project in future next level. Improve the security and implement on Real time product. In future we have to add a tracking system for track the product.</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Conclusion</a:t>
            </a:r>
            <a:r>
              <a:rPr lang="en-IN" b="1" dirty="0" smtClean="0"/>
              <a:t>:</a:t>
            </a:r>
            <a:endParaRPr lang="en-IN" dirty="0"/>
          </a:p>
        </p:txBody>
      </p:sp>
      <p:sp>
        <p:nvSpPr>
          <p:cNvPr id="3" name="Content Placeholder 2"/>
          <p:cNvSpPr>
            <a:spLocks noGrp="1"/>
          </p:cNvSpPr>
          <p:nvPr>
            <p:ph idx="1"/>
          </p:nvPr>
        </p:nvSpPr>
        <p:spPr/>
        <p:txBody>
          <a:bodyPr/>
          <a:lstStyle/>
          <a:p>
            <a:pPr marL="0" indent="0" algn="just">
              <a:lnSpc>
                <a:spcPct val="150000"/>
              </a:lnSpc>
              <a:buNone/>
            </a:pPr>
            <a:r>
              <a:rPr lang="en-IN" dirty="0" smtClean="0">
                <a:latin typeface="Times New Roman" panose="02020603050405020304" pitchFamily="18" charset="0"/>
                <a:cs typeface="Times New Roman" panose="02020603050405020304" pitchFamily="18" charset="0"/>
              </a:rPr>
              <a:t>	With </a:t>
            </a:r>
            <a:r>
              <a:rPr lang="en-IN" dirty="0">
                <a:latin typeface="Times New Roman" panose="02020603050405020304" pitchFamily="18" charset="0"/>
                <a:cs typeface="Times New Roman" panose="02020603050405020304" pitchFamily="18" charset="0"/>
              </a:rPr>
              <a:t>this system, the products journey from manufacturing to customer can be recorded, and the customer is assured that the scans weren’t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faked. </a:t>
            </a:r>
            <a:r>
              <a:rPr lang="en-IN" dirty="0" smtClean="0">
                <a:latin typeface="Times New Roman" panose="02020603050405020304" pitchFamily="18" charset="0"/>
                <a:cs typeface="Times New Roman" panose="02020603050405020304" pitchFamily="18" charset="0"/>
              </a:rPr>
              <a:t>The Manufacture can be able </a:t>
            </a:r>
            <a:r>
              <a:rPr lang="en-IN" dirty="0">
                <a:latin typeface="Times New Roman" panose="02020603050405020304" pitchFamily="18" charset="0"/>
                <a:cs typeface="Times New Roman" panose="02020603050405020304" pitchFamily="18" charset="0"/>
              </a:rPr>
              <a:t>to prove their product is authentic </a:t>
            </a:r>
            <a:r>
              <a:rPr lang="en-IN">
                <a:latin typeface="Times New Roman" panose="02020603050405020304" pitchFamily="18" charset="0"/>
                <a:cs typeface="Times New Roman" panose="02020603050405020304" pitchFamily="18" charset="0"/>
              </a:rPr>
              <a:t>and </a:t>
            </a:r>
            <a:r>
              <a:rPr lang="en-IN" smtClean="0">
                <a:latin typeface="Times New Roman" panose="02020603050405020304" pitchFamily="18" charset="0"/>
                <a:cs typeface="Times New Roman" panose="02020603050405020304" pitchFamily="18" charset="0"/>
              </a:rPr>
              <a:t>can </a:t>
            </a:r>
            <a:r>
              <a:rPr lang="en-IN" dirty="0">
                <a:latin typeface="Times New Roman" panose="02020603050405020304" pitchFamily="18" charset="0"/>
                <a:cs typeface="Times New Roman" panose="02020603050405020304" pitchFamily="18" charset="0"/>
              </a:rPr>
              <a:t>also able to track </a:t>
            </a:r>
            <a:r>
              <a:rPr lang="en-IN">
                <a:latin typeface="Times New Roman" panose="02020603050405020304" pitchFamily="18" charset="0"/>
                <a:cs typeface="Times New Roman" panose="02020603050405020304" pitchFamily="18" charset="0"/>
              </a:rPr>
              <a:t>their </a:t>
            </a:r>
            <a:r>
              <a:rPr lang="en-IN" smtClean="0">
                <a:latin typeface="Times New Roman" panose="02020603050405020304" pitchFamily="18" charset="0"/>
                <a:cs typeface="Times New Roman" panose="02020603050405020304" pitchFamily="18" charset="0"/>
              </a:rPr>
              <a:t>product‘s </a:t>
            </a:r>
            <a:r>
              <a:rPr lang="en-IN" dirty="0">
                <a:latin typeface="Times New Roman" panose="02020603050405020304" pitchFamily="18" charset="0"/>
                <a:cs typeface="Times New Roman" panose="02020603050405020304" pitchFamily="18" charset="0"/>
              </a:rPr>
              <a:t>pathway. The setup is easy to implement and requires less operation cost. </a:t>
            </a:r>
          </a:p>
        </p:txBody>
      </p:sp>
    </p:spTree>
    <p:extLst>
      <p:ext uri="{BB962C8B-B14F-4D97-AF65-F5344CB8AC3E}">
        <p14:creationId xmlns="" xmlns:p14="http://schemas.microsoft.com/office/powerpoint/2010/main" val="2756108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72358" y="604290"/>
            <a:ext cx="9601200" cy="1303337"/>
          </a:xfrm>
        </p:spPr>
        <p:txBody>
          <a:bodyPr>
            <a:normAutofit/>
          </a:bodyPr>
          <a:lstStyle/>
          <a:p>
            <a:r>
              <a:rPr lang="en-IN" sz="2400" dirty="0" smtClean="0">
                <a:solidFill>
                  <a:srgbClr val="002060"/>
                </a:solidFill>
                <a:latin typeface="Cambria" pitchFamily="18" charset="0"/>
                <a:ea typeface="Cambria" pitchFamily="18" charset="0"/>
              </a:rPr>
              <a:t>DEMO OUTPUT</a:t>
            </a:r>
            <a:endParaRPr lang="en-IN" sz="2400" dirty="0">
              <a:solidFill>
                <a:srgbClr val="002060"/>
              </a:solidFill>
              <a:latin typeface="Cambria" pitchFamily="18" charset="0"/>
              <a:ea typeface="Cambria" pitchFamily="18" charset="0"/>
            </a:endParaRPr>
          </a:p>
        </p:txBody>
      </p:sp>
      <p:sp>
        <p:nvSpPr>
          <p:cNvPr id="5" name="TextBox 4"/>
          <p:cNvSpPr txBox="1"/>
          <p:nvPr/>
        </p:nvSpPr>
        <p:spPr>
          <a:xfrm>
            <a:off x="1282262" y="3026979"/>
            <a:ext cx="1334596" cy="369332"/>
          </a:xfrm>
          <a:prstGeom prst="rect">
            <a:avLst/>
          </a:prstGeom>
          <a:noFill/>
        </p:spPr>
        <p:txBody>
          <a:bodyPr wrap="none" rtlCol="0">
            <a:spAutoFit/>
          </a:bodyPr>
          <a:lstStyle/>
          <a:p>
            <a:r>
              <a:rPr lang="en-IN" dirty="0" smtClean="0"/>
              <a:t>HOME PAGE</a:t>
            </a:r>
            <a:endParaRPr lang="en-IN" dirty="0"/>
          </a:p>
        </p:txBody>
      </p:sp>
      <p:pic>
        <p:nvPicPr>
          <p:cNvPr id="6" name="Picture 5" descr="P1.PNG"/>
          <p:cNvPicPr>
            <a:picLocks noChangeAspect="1"/>
          </p:cNvPicPr>
          <p:nvPr/>
        </p:nvPicPr>
        <p:blipFill>
          <a:blip r:embed="rId2"/>
          <a:stretch>
            <a:fillRect/>
          </a:stretch>
        </p:blipFill>
        <p:spPr>
          <a:xfrm>
            <a:off x="2975957" y="1845425"/>
            <a:ext cx="7182195" cy="40399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76248" y="1040524"/>
            <a:ext cx="1408334" cy="369332"/>
          </a:xfrm>
          <a:prstGeom prst="rect">
            <a:avLst/>
          </a:prstGeom>
          <a:noFill/>
        </p:spPr>
        <p:txBody>
          <a:bodyPr wrap="none" rtlCol="0">
            <a:spAutoFit/>
          </a:bodyPr>
          <a:lstStyle/>
          <a:p>
            <a:r>
              <a:rPr lang="en-IN" dirty="0" smtClean="0"/>
              <a:t>ADMIN PAGE</a:t>
            </a:r>
            <a:endParaRPr lang="en-IN" dirty="0"/>
          </a:p>
        </p:txBody>
      </p:sp>
      <p:pic>
        <p:nvPicPr>
          <p:cNvPr id="5" name="Picture 4" descr="admin welcome page.PNG"/>
          <p:cNvPicPr>
            <a:picLocks noChangeAspect="1"/>
          </p:cNvPicPr>
          <p:nvPr/>
        </p:nvPicPr>
        <p:blipFill>
          <a:blip r:embed="rId2"/>
          <a:stretch>
            <a:fillRect/>
          </a:stretch>
        </p:blipFill>
        <p:spPr>
          <a:xfrm>
            <a:off x="3660057" y="1401377"/>
            <a:ext cx="5650197" cy="45429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2.PNG"/>
          <p:cNvPicPr>
            <a:picLocks noChangeAspect="1"/>
          </p:cNvPicPr>
          <p:nvPr/>
        </p:nvPicPr>
        <p:blipFill>
          <a:blip r:embed="rId2"/>
          <a:stretch>
            <a:fillRect/>
          </a:stretch>
        </p:blipFill>
        <p:spPr>
          <a:xfrm>
            <a:off x="2294313" y="1625910"/>
            <a:ext cx="7477570" cy="4026744"/>
          </a:xfrm>
          <a:prstGeom prst="rect">
            <a:avLst/>
          </a:prstGeom>
        </p:spPr>
      </p:pic>
      <p:sp>
        <p:nvSpPr>
          <p:cNvPr id="3" name="TextBox 2"/>
          <p:cNvSpPr txBox="1"/>
          <p:nvPr/>
        </p:nvSpPr>
        <p:spPr>
          <a:xfrm>
            <a:off x="1995055" y="1197033"/>
            <a:ext cx="1954509" cy="369332"/>
          </a:xfrm>
          <a:prstGeom prst="rect">
            <a:avLst/>
          </a:prstGeom>
          <a:noFill/>
        </p:spPr>
        <p:txBody>
          <a:bodyPr wrap="none" rtlCol="0">
            <a:spAutoFit/>
          </a:bodyPr>
          <a:lstStyle/>
          <a:p>
            <a:r>
              <a:rPr lang="en-IN" dirty="0" smtClean="0"/>
              <a:t>PRODUCT DETAILS </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1655" y="1030014"/>
            <a:ext cx="3234155" cy="369332"/>
          </a:xfrm>
          <a:prstGeom prst="rect">
            <a:avLst/>
          </a:prstGeom>
          <a:noFill/>
        </p:spPr>
        <p:txBody>
          <a:bodyPr wrap="none" rtlCol="0">
            <a:spAutoFit/>
          </a:bodyPr>
          <a:lstStyle/>
          <a:p>
            <a:r>
              <a:rPr lang="en-IN" dirty="0" smtClean="0"/>
              <a:t>BLOCK CHAIN IMPLEMENTATION</a:t>
            </a:r>
            <a:endParaRPr lang="en-IN" dirty="0"/>
          </a:p>
        </p:txBody>
      </p:sp>
      <p:pic>
        <p:nvPicPr>
          <p:cNvPr id="4" name="Picture 3" descr="BC1.PNG"/>
          <p:cNvPicPr>
            <a:picLocks noChangeAspect="1"/>
          </p:cNvPicPr>
          <p:nvPr/>
        </p:nvPicPr>
        <p:blipFill>
          <a:blip r:embed="rId2"/>
          <a:stretch>
            <a:fillRect/>
          </a:stretch>
        </p:blipFill>
        <p:spPr>
          <a:xfrm>
            <a:off x="2527069" y="1596044"/>
            <a:ext cx="7442661" cy="418649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47802" y="1134532"/>
            <a:ext cx="9601196" cy="1303867"/>
          </a:xfrm>
          <a:prstGeom prst="rect">
            <a:avLst/>
          </a:prstGeom>
          <a:effectLst/>
        </p:spPr>
        <p:txBody>
          <a:bodyPr vert="horz" lIns="91440" tIns="45720" rIns="91440" bIns="45720" rtlCol="0" anchor="ctr">
            <a:normAutofit/>
          </a:bodyPr>
          <a:lstStyle/>
          <a:p>
            <a:pPr marL="0" marR="0" lvl="0" indent="0" defTabSz="457200" rtl="0" eaLnBrk="1" fontAlgn="auto" latinLnBrk="0" hangingPunct="1">
              <a:lnSpc>
                <a:spcPct val="100000"/>
              </a:lnSpc>
              <a:spcBef>
                <a:spcPct val="0"/>
              </a:spcBef>
              <a:spcAft>
                <a:spcPts val="0"/>
              </a:spcAft>
              <a:buClrTx/>
              <a:buSzTx/>
              <a:buFontTx/>
              <a:buNone/>
              <a:tabLst/>
              <a:defRPr/>
            </a:pPr>
            <a:r>
              <a:rPr kumimoji="0" lang="en-IN" sz="2800" b="1" i="0" u="none" strike="noStrike" kern="1200" cap="none" spc="0" normalizeH="0" baseline="0" noProof="0" dirty="0" smtClean="0">
                <a:ln w="3175" cmpd="sng">
                  <a:noFill/>
                </a:ln>
                <a:solidFill>
                  <a:schemeClr val="tx1">
                    <a:lumMod val="85000"/>
                    <a:lumOff val="15000"/>
                  </a:schemeClr>
                </a:solidFill>
                <a:effectLst/>
                <a:uLnTx/>
                <a:uFillTx/>
                <a:latin typeface="Times New Roman" panose="02020603050405020304" pitchFamily="18" charset="0"/>
                <a:ea typeface="+mj-ea"/>
                <a:cs typeface="Times New Roman" panose="02020603050405020304" pitchFamily="18" charset="0"/>
              </a:rPr>
              <a:t>REFERENCES</a:t>
            </a:r>
            <a:endParaRPr kumimoji="0" lang="en-IN" sz="2800" b="0" i="0" u="none" strike="noStrike" kern="1200" cap="none" spc="0" normalizeH="0" baseline="0" noProof="0" dirty="0">
              <a:ln w="3175" cmpd="sng">
                <a:noFill/>
              </a:ln>
              <a:solidFill>
                <a:schemeClr val="tx1">
                  <a:lumMod val="85000"/>
                  <a:lumOff val="15000"/>
                </a:schemeClr>
              </a:solidFill>
              <a:effectLst/>
              <a:uLnTx/>
              <a:uFillTx/>
              <a:latin typeface="Times New Roman" panose="02020603050405020304" pitchFamily="18" charset="0"/>
              <a:ea typeface="+mj-ea"/>
              <a:cs typeface="Times New Roman" panose="02020603050405020304" pitchFamily="18" charset="0"/>
            </a:endParaRPr>
          </a:p>
        </p:txBody>
      </p:sp>
      <p:sp>
        <p:nvSpPr>
          <p:cNvPr id="5" name="Content Placeholder 2"/>
          <p:cNvSpPr txBox="1">
            <a:spLocks/>
          </p:cNvSpPr>
          <p:nvPr/>
        </p:nvSpPr>
        <p:spPr>
          <a:xfrm>
            <a:off x="1447800" y="2648608"/>
            <a:ext cx="9577551" cy="3379660"/>
          </a:xfrm>
          <a:prstGeom prst="rect">
            <a:avLst/>
          </a:prstGeom>
        </p:spPr>
        <p:txBody>
          <a:bodyPr vert="horz" lIns="91440" tIns="45720" rIns="91440" bIns="45720" rtlCol="0" anchor="t">
            <a:normAutofit fontScale="66667" lnSpcReduction="20000"/>
          </a:bodyPr>
          <a:lstStyle/>
          <a:p>
            <a:pPr marL="285750" marR="0" lvl="0" indent="-285750" algn="l" defTabSz="457200" rtl="0" eaLnBrk="1" fontAlgn="auto" latinLnBrk="0" hangingPunct="1">
              <a:lnSpc>
                <a:spcPct val="100000"/>
              </a:lnSpc>
              <a:spcBef>
                <a:spcPct val="20000"/>
              </a:spcBef>
              <a:spcAft>
                <a:spcPts val="600"/>
              </a:spcAft>
              <a:buClr>
                <a:schemeClr val="accent1"/>
              </a:buClr>
              <a:buSzPct val="115000"/>
              <a:buFont typeface="Arial"/>
              <a:buChar char="•"/>
              <a:tabLst/>
              <a:defRPr/>
            </a:pP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[1] 	J. A.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Konstan</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and J.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Riedl</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``Recommender systems: From algorithms to user experience,'' </a:t>
            </a:r>
            <a:r>
              <a:rPr kumimoji="0" lang="en-IN" sz="2400" b="0" i="1"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User Model. User-Adapted Interact.</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vol. 22, nos. 1_2, pp. 101_123, Apr. 2012,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doi</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10.1007/s11257-011-9112-x.</a:t>
            </a:r>
          </a:p>
          <a:p>
            <a:pPr marL="285750" marR="0" lvl="0" indent="-285750" algn="l" defTabSz="457200" rtl="0" eaLnBrk="1" fontAlgn="auto" latinLnBrk="0" hangingPunct="1">
              <a:lnSpc>
                <a:spcPct val="100000"/>
              </a:lnSpc>
              <a:spcBef>
                <a:spcPct val="20000"/>
              </a:spcBef>
              <a:spcAft>
                <a:spcPts val="600"/>
              </a:spcAft>
              <a:buClr>
                <a:schemeClr val="accent1"/>
              </a:buClr>
              <a:buSzPct val="115000"/>
              <a:buFont typeface="Arial"/>
              <a:buChar char="•"/>
              <a:tabLst/>
              <a:defRPr/>
            </a:pP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[2] 	J. B. Schafer, D.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Frankowski</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J.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Herlocker</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and S.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Sen</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``Collaborative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ltering</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recommender systems,'' in </a:t>
            </a:r>
            <a:r>
              <a:rPr kumimoji="0" lang="en-IN" sz="2400" b="0" i="1"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The Adaptive Web </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(Lecture Notes in Computer Science), vol. 4321, P.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Brusilovsky</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Kobsa</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and W.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Nejdl</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Eds. Cham, Switzerland: Springer, 2007.</a:t>
            </a:r>
          </a:p>
          <a:p>
            <a:pPr marL="285750" marR="0" lvl="0" indent="-285750" algn="l" defTabSz="457200" rtl="0" eaLnBrk="1" fontAlgn="auto" latinLnBrk="0" hangingPunct="1">
              <a:lnSpc>
                <a:spcPct val="100000"/>
              </a:lnSpc>
              <a:spcBef>
                <a:spcPct val="20000"/>
              </a:spcBef>
              <a:spcAft>
                <a:spcPts val="600"/>
              </a:spcAft>
              <a:buClr>
                <a:schemeClr val="accent1"/>
              </a:buClr>
              <a:buSzPct val="115000"/>
              <a:buFont typeface="Arial"/>
              <a:buChar char="•"/>
              <a:tabLst/>
              <a:defRPr/>
            </a:pP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[3]	 M. J.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Pazzani</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and D.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Billsus</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``Content-based recommendation systems,''</a:t>
            </a:r>
          </a:p>
          <a:p>
            <a:pPr marL="285750" marR="0" lvl="0" indent="-285750" algn="l" defTabSz="457200" rtl="0" eaLnBrk="1" fontAlgn="auto" latinLnBrk="0" hangingPunct="1">
              <a:lnSpc>
                <a:spcPct val="100000"/>
              </a:lnSpc>
              <a:spcBef>
                <a:spcPct val="20000"/>
              </a:spcBef>
              <a:spcAft>
                <a:spcPts val="600"/>
              </a:spcAft>
              <a:buClr>
                <a:schemeClr val="accent1"/>
              </a:buClr>
              <a:buSzPct val="115000"/>
              <a:buFont typeface="Arial"/>
              <a:buChar char="•"/>
              <a:tabLst/>
              <a:defRPr/>
            </a:pP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in </a:t>
            </a:r>
            <a:r>
              <a:rPr kumimoji="0" lang="en-IN" sz="2400" b="0" i="1"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The Adaptive Web </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(Lecture Notes in Computer Science), vol. 4321, P.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Brusilovsky</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Kobsa</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and W.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Nejdl</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Eds. Berlin, Germany:  pringer,2007.</a:t>
            </a:r>
          </a:p>
          <a:p>
            <a:pPr marL="285750" marR="0" lvl="0" indent="-285750" algn="l" defTabSz="457200" rtl="0" eaLnBrk="1" fontAlgn="auto" latinLnBrk="0" hangingPunct="1">
              <a:lnSpc>
                <a:spcPct val="100000"/>
              </a:lnSpc>
              <a:spcBef>
                <a:spcPct val="20000"/>
              </a:spcBef>
              <a:spcAft>
                <a:spcPts val="600"/>
              </a:spcAft>
              <a:buClr>
                <a:schemeClr val="accent1"/>
              </a:buClr>
              <a:buSzPct val="115000"/>
              <a:buFont typeface="Arial"/>
              <a:buChar char="•"/>
              <a:tabLst/>
              <a:defRPr/>
            </a:pP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[4] 	S.-T. Li, T.-T. Pham, and H.-C. Chuang, ``Do reviewers' words affect predicting their helpfulness ratings? Locating helpful reviewers by linguistics styles,'' </a:t>
            </a:r>
            <a:r>
              <a:rPr kumimoji="0" lang="en-IN" sz="2400" b="0" i="1"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Inf. Manage.</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vol. 56, no. 1, pp. 28_38, 2019.</a:t>
            </a:r>
          </a:p>
          <a:p>
            <a:pPr marL="285750" marR="0" lvl="0" indent="-285750" algn="l" defTabSz="457200" rtl="0" eaLnBrk="1" fontAlgn="auto" latinLnBrk="0" hangingPunct="1">
              <a:lnSpc>
                <a:spcPct val="100000"/>
              </a:lnSpc>
              <a:spcBef>
                <a:spcPct val="20000"/>
              </a:spcBef>
              <a:spcAft>
                <a:spcPts val="600"/>
              </a:spcAft>
              <a:buClr>
                <a:schemeClr val="accent1"/>
              </a:buClr>
              <a:buSzPct val="115000"/>
              <a:buFont typeface="Arial"/>
              <a:buChar char="•"/>
              <a:tabLst/>
              <a:defRPr/>
            </a:pP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[5] 	V.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Srivastava</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and A. D. </a:t>
            </a:r>
            <a:r>
              <a:rPr kumimoji="0" lang="en-IN" sz="2400" b="0" i="0" u="none" strike="noStrike" kern="1200" cap="none" spc="0" normalizeH="0" baseline="0" noProof="0" dirty="0" err="1"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Kalro</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``Enhancing the helpfulness of online consumer reviews: The role of latent (content) factors,'' </a:t>
            </a:r>
            <a:r>
              <a:rPr kumimoji="0" lang="en-IN" sz="2400" b="0" i="1"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J. Interact. Marketing</a:t>
            </a:r>
            <a:r>
              <a:rPr kumimoji="0" lang="en-IN" sz="2400" b="0" i="0" u="none" strike="noStrike" kern="1200" cap="none" spc="0" normalizeH="0" baseline="0" noProof="0" dirty="0" smtClean="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rPr>
              <a:t>, vol. 48, pp. 33_50, Nov. 2019.</a:t>
            </a:r>
            <a:endParaRPr kumimoji="0" lang="en-IN" sz="2400" b="0" i="0" u="none" strike="noStrike" kern="1200" cap="none" spc="0" normalizeH="0" baseline="0" noProof="0" dirty="0">
              <a:ln>
                <a:noFill/>
              </a:ln>
              <a:solidFill>
                <a:schemeClr val="tx1">
                  <a:lumMod val="85000"/>
                  <a:lumOff val="15000"/>
                </a:schemeClr>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AC0881-EA88-432B-86BB-4EB78D0EA8C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F027939-E3B8-41D6-8A67-A640CA8A50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1E945A-F8B2-4917-A3C0-E5FD0C7053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324</Words>
  <Application>Microsoft Office PowerPoint</Application>
  <PresentationFormat>Custom</PresentationFormat>
  <Paragraphs>94</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Organic</vt:lpstr>
      <vt:lpstr>Fake Product Identification Using Block chain</vt:lpstr>
      <vt:lpstr>ABSTRACT:</vt:lpstr>
      <vt:lpstr>Defnition</vt:lpstr>
      <vt:lpstr>EXISTING SYSTEM:</vt:lpstr>
      <vt:lpstr>PROPOSED SYSTEM:</vt:lpstr>
      <vt:lpstr>SOFTWARE and HARDWARE REQUIREMENTS:</vt:lpstr>
      <vt:lpstr>MODULES</vt:lpstr>
      <vt:lpstr>USER INTERFACE</vt:lpstr>
      <vt:lpstr>Block chain creating and mining:  </vt:lpstr>
      <vt:lpstr>Slide 10</vt:lpstr>
      <vt:lpstr>Slide 11</vt:lpstr>
      <vt:lpstr>Slide 12</vt:lpstr>
      <vt:lpstr>Slide 13</vt:lpstr>
      <vt:lpstr>ADVANTAGE OF USING BLOCK CHAIN:</vt:lpstr>
      <vt:lpstr>DISADVANTAGE OF USING CURRENT SYSTEM:</vt:lpstr>
      <vt:lpstr>FUTURE ENHANCEMENTS</vt:lpstr>
      <vt:lpstr>Conclusion:</vt:lpstr>
      <vt:lpstr>DEMO OUTPUT</vt:lpstr>
      <vt:lpstr>Slide 19</vt:lpstr>
      <vt:lpstr>Slide 20</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2020-12-26T09:43:23Z</dcterms:created>
  <dcterms:modified xsi:type="dcterms:W3CDTF">2021-05-20T06:01:38Z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